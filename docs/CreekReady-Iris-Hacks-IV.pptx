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a7b18a934b84983" /><Relationship Type="http://schemas.openxmlformats.org/officeDocument/2006/relationships/extended-properties" Target="/docProps/app.xml" Id="Rda1f1ee7e6a14a82" /><Relationship Type="http://schemas.openxmlformats.org/officeDocument/2006/relationships/officeDocument" Target="/ppt/presentation.xml" Id="Rab5cfeac5ef1483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2d58576b1ed401c"/>
  </p:sldMasterIdLst>
  <p:notesMasterIdLst>
    <p:notesMasterId xmlns:r="http://schemas.openxmlformats.org/officeDocument/2006/relationships" r:id="Rba19e8051aeb4ddb"/>
  </p:notesMasterIdLst>
  <p:sldIdLst>
    <p:sldId xmlns:r="http://schemas.openxmlformats.org/officeDocument/2006/relationships" id="256" r:id="Rd7030887d06f49fd"/>
    <p:sldId xmlns:r="http://schemas.openxmlformats.org/officeDocument/2006/relationships" id="257" r:id="R92ac9aa7b25746bb"/>
    <p:sldId xmlns:r="http://schemas.openxmlformats.org/officeDocument/2006/relationships" id="258" r:id="R728abd75349144ba"/>
    <p:sldId xmlns:r="http://schemas.openxmlformats.org/officeDocument/2006/relationships" id="259" r:id="Ref5e76c729b14589"/>
    <p:sldId xmlns:r="http://schemas.openxmlformats.org/officeDocument/2006/relationships" id="260" r:id="R4dce75e563294d7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df6c91e74554d36" /><Relationship Type="http://schemas.openxmlformats.org/officeDocument/2006/relationships/slideMaster" Target="/ppt/slideMasters/slideMaster1.xml" Id="R72d58576b1ed401c" /><Relationship Type="http://schemas.openxmlformats.org/officeDocument/2006/relationships/notesMaster" Target="/ppt/notesMasters/notesMaster1.xml" Id="Rba19e8051aeb4ddb" /><Relationship Type="http://schemas.openxmlformats.org/officeDocument/2006/relationships/presProps" Target="/ppt/presProps.xml" Id="R670c72e3ffeb47dc" /><Relationship Type="http://schemas.openxmlformats.org/officeDocument/2006/relationships/tableStyles" Target="/ppt/tableStyles.xml" Id="R63e1141981fd4c81" /><Relationship Type="http://schemas.openxmlformats.org/officeDocument/2006/relationships/slide" Target="/ppt/slides/slide1.xml" Id="Rd7030887d06f49fd" /><Relationship Type="http://schemas.openxmlformats.org/officeDocument/2006/relationships/slide" Target="/ppt/slides/slide2.xml" Id="R92ac9aa7b25746bb" /><Relationship Type="http://schemas.openxmlformats.org/officeDocument/2006/relationships/slide" Target="/ppt/slides/slide3.xml" Id="R728abd75349144ba" /><Relationship Type="http://schemas.openxmlformats.org/officeDocument/2006/relationships/slide" Target="/ppt/slides/slide4.xml" Id="Ref5e76c729b14589" /><Relationship Type="http://schemas.openxmlformats.org/officeDocument/2006/relationships/slide" Target="/ppt/slides/slide5.xml" Id="R4dce75e563294d7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c87487b70de491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a02b441aa7e49dc" /><Relationship Type="http://schemas.openxmlformats.org/officeDocument/2006/relationships/notesMaster" Target="/ppt/notesMasters/notesMaster1.xml" Id="Rfd03584576ab4d1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054be542fd64775" /><Relationship Type="http://schemas.openxmlformats.org/officeDocument/2006/relationships/notesMaster" Target="/ppt/notesMasters/notesMaster1.xml" Id="Rd958ee3e507e4b2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f846224b50c4027" /><Relationship Type="http://schemas.openxmlformats.org/officeDocument/2006/relationships/notesMaster" Target="/ppt/notesMasters/notesMaster1.xml" Id="Rb3c784f2455c4d7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e368c1ad31c414c" /><Relationship Type="http://schemas.openxmlformats.org/officeDocument/2006/relationships/notesMaster" Target="/ppt/notesMasters/notesMaster1.xml" Id="R80464476836640d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acb839aefdb44db" /><Relationship Type="http://schemas.openxmlformats.org/officeDocument/2006/relationships/notesMaster" Target="/ppt/notesMasters/notesMaster1.xml" Id="R2d24effc9c5646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0:00–0:12 — An emergency alert is only useful if a household can act on it. CreekReady turns the warning a family already received into a clear, source-linked plan.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docs/assets/creekready-cover.png — generated editorial illustration; not a live event or product screenshot.</a:t>
            </a:r>
          </a:p>
          <a:p xmlns:a="http://schemas.openxmlformats.org/drawingml/2006/main">
            <a:r>
              <a:t>- README.md — project positioning and tagline.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0:12–0:32 — Community alerts are necessarily broad. The action gap appears when a specific household has to account for people, pets, mobility, or transportation without losing the original official signal.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https://www.co.bastrop.tx.us/page/em.wildfire_mitigation_program — local Bastrop County preparedness context.</a:t>
            </a:r>
          </a:p>
          <a:p xmlns:a="http://schemas.openxmlformats.org/drawingml/2006/main">
            <a:r>
              <a:t>- https://www.ready.gov/plan — FEMA household planning guidance.</a:t>
            </a:r>
          </a:p>
          <a:p xmlns:a="http://schemas.openxmlformats.org/drawingml/2006/main">
            <a:r>
              <a:t>- README.md — CreekReady problem statement and supported household constraints.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0:32–1:08 — This is a real CreekReady result from the fictional wildfire sample with older adult and pet selected. The first view exposes the Featherless-ranked mode, household fit, all three decision stages, and source IDs; the deterministic fact panel and bounded-AI receipt remain inspectable below.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docs/assets/creekready-desktop-result.png — real local CreekReady interface capture using a fictional sample; not a live warning.</a:t>
            </a:r>
          </a:p>
          <a:p xmlns:a="http://schemas.openxmlformats.org/drawingml/2006/main">
            <a:r>
              <a:t>- README.md — demonstrated workflow, modes, and current limitations.</a:t>
            </a:r>
          </a:p>
          <a:p xmlns:a="http://schemas.openxmlformats.org/drawingml/2006/main">
            <a:r>
              <a:t>- creekready/service.py; creekready/provider.py; creekready/catalog.py — deterministic fact ownership, bounded ranking, and vetted action catalog.</a:t>
            </a:r>
          </a:p>
          <a:p xmlns:a="http://schemas.openxmlformats.org/drawingml/2006/main">
            <a:r>
              <a:t>- https://www.weather.gov/safety/flood; https://www.weather.gov/safety/heat; https://www.ready.gov/wildfires; https://www.ready.gov/plan — official guidance sources surfaced by the app.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1:08–1:38 — This is the key engineering boundary. Featherless receives parser-selected directive sentences, selected needs/language, and a vetted action catalog, then returns two prose-free ID arrays: prioritized instruction IDs and ranked action IDs. Displayed facts and all visible wording remain server-owned; invalid output fails closed to the deterministic fallback.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creekready/service.py — deterministic fact panel, server-owned stage and visible wording, provider selection, required-action restoration, and fallback behavior.</a:t>
            </a:r>
          </a:p>
          <a:p xmlns:a="http://schemas.openxmlformats.org/drawingml/2006/main">
            <a:r>
              <a:t>- creekready/provider.py; creekready/catalog.py — two-array Featherless ranking contract, request-specific ID allowlists, vetted action catalog, and fail-closed validation.</a:t>
            </a:r>
          </a:p>
          <a:p xmlns:a="http://schemas.openxmlformats.org/drawingml/2006/main">
            <a:r>
              <a:t>- creekready/models.py — bounded request and response contracts.</a:t>
            </a:r>
          </a:p>
          <a:p xmlns:a="http://schemas.openxmlformats.org/drawingml/2006/main">
            <a:r>
              <a:t>- README.md — exact privacy statement, modes, and current provider behavior.</a:t>
            </a:r>
          </a:p>
          <a:p xmlns:a="http://schemas.openxmlformats.org/drawingml/2006/main">
            <a:r>
              <a:t>- https://featherless.ai/docs/quickstart-guide — OpenAI-compatible Featherless integration reference.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1:38–2:00 — CreekReady does not create a warning. It helps a household act on one, with the official signal still in control. Close on the complete plan in the live demo: official alert in, clear household plan out.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— exact current limitations, privacy posture, and no-live-data statement.</a:t>
            </a:r>
          </a:p>
          <a:p xmlns:a="http://schemas.openxmlformats.org/drawingml/2006/main">
            <a:r>
              <a:t>- docs/pitch-script.md — closing language and judge-question limitations.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a92fd7b1144e4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1d4b474ea994977" /><Relationship Type="http://schemas.openxmlformats.org/officeDocument/2006/relationships/slideLayout" Target="/ppt/slideLayouts/slideLayout1.xml" Id="Re264e594b99b4a4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264e594b99b4a4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d999d67b184abd" /><Relationship Type="http://schemas.openxmlformats.org/officeDocument/2006/relationships/image" Target="/ppt/media/image.png" Id="R90fa7786feaa462c" /><Relationship Type="http://schemas.openxmlformats.org/officeDocument/2006/relationships/notesSlide" Target="/ppt/notesSlides/notesSlide1.xml" Id="R373d0aa2e170474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01d60f9c264ae2" /><Relationship Type="http://schemas.openxmlformats.org/officeDocument/2006/relationships/notesSlide" Target="/ppt/notesSlides/notesSlide2.xml" Id="R8843b476ec7b48f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086c676e924598" /><Relationship Type="http://schemas.openxmlformats.org/officeDocument/2006/relationships/image" Target="/ppt/media/image.jpeg" Id="R02df94a8a4924e94" /><Relationship Type="http://schemas.openxmlformats.org/officeDocument/2006/relationships/notesSlide" Target="/ppt/notesSlides/notesSlide3.xml" Id="Rc020c3081f6d451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2764e34aa64dcd" /><Relationship Type="http://schemas.openxmlformats.org/officeDocument/2006/relationships/notesSlide" Target="/ppt/notesSlides/notesSlide4.xml" Id="Rb1397c9d6ebb428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6c03f459fd4fc0" /><Relationship Type="http://schemas.openxmlformats.org/officeDocument/2006/relationships/notesSlide" Target="/ppt/notesSlides/notesSlide5.xml" Id="R9b7d6917db0c49f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24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fa7786feaa462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title-dark-field">
            <a:extLst xmlns:a="http://schemas.openxmlformats.org/drawingml/2006/main">
              <a:ext uri="{FF2B5EF4-FFF2-40B4-BE49-F238E27FC236}">
                <a16:creationId xmlns:a16="http://schemas.microsoft.com/office/drawing/2014/main" id="{05FE2CF6-E02F-4A69-BAF0-3D3E7819F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810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433">
              <a:alpha val="9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title-coral-rule">
            <a:extLst xmlns:a="http://schemas.openxmlformats.org/drawingml/2006/main">
              <a:ext uri="{FF2B5EF4-FFF2-40B4-BE49-F238E27FC236}">
                <a16:creationId xmlns:a16="http://schemas.microsoft.com/office/drawing/2014/main" id="{30271B10-580E-448F-B7FD-0ADEEB327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6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itle-event">
            <a:extLst xmlns:a="http://schemas.openxmlformats.org/drawingml/2006/main">
              <a:ext uri="{FF2B5EF4-FFF2-40B4-BE49-F238E27FC236}">
                <a16:creationId xmlns:a16="http://schemas.microsoft.com/office/drawing/2014/main" id="{F27BD96A-DC89-4E8F-91BE-0451F759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BCD4D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CD4D6"/>
                </a:solidFill>
                <a:latin typeface="Aptos"/>
                <a:ea typeface="Aptos"/>
                <a:cs typeface="Aptos"/>
              </a:rPr>
              <a:t>IRIS HACKS IV · 2026</a:t>
            </a:r>
          </a:p>
        </p:txBody>
      </p:sp>
      <p:sp>
        <p:nvSpPr>
          <p:cNvPr id="5" name="title-name">
            <a:extLst xmlns:a="http://schemas.openxmlformats.org/drawingml/2006/main">
              <a:ext uri="{FF2B5EF4-FFF2-40B4-BE49-F238E27FC236}">
                <a16:creationId xmlns:a16="http://schemas.microsoft.com/office/drawing/2014/main" id="{13848B68-1C4D-4CD8-AE0C-B8A72F54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4476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F5EBDD"/>
                </a:solidFill>
                <a:latin typeface="Georgia"/>
                <a:ea typeface="Georgia"/>
                <a:cs typeface="Georgia"/>
              </a:defRPr>
            </a:pPr>
            <a:r>
              <a:rPr sz="5100" b="1">
                <a:solidFill>
                  <a:srgbClr val="F5EBDD"/>
                </a:solidFill>
                <a:latin typeface="Georgia"/>
                <a:ea typeface="Georgia"/>
                <a:cs typeface="Georgia"/>
              </a:rPr>
              <a:t>CreekReady</a:t>
            </a:r>
          </a:p>
        </p:txBody>
      </p:sp>
      <p:sp>
        <p:nvSpPr>
          <p:cNvPr id="6" name="title-tagline">
            <a:extLst xmlns:a="http://schemas.openxmlformats.org/drawingml/2006/main">
              <a:ext uri="{FF2B5EF4-FFF2-40B4-BE49-F238E27FC236}">
                <a16:creationId xmlns:a16="http://schemas.microsoft.com/office/drawing/2014/main" id="{0FE334CE-00FE-4D88-A5A7-C62D5F2F1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09850"/>
            <a:ext cx="4191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Official alert in.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Clear household plan out.</a:t>
            </a:r>
          </a:p>
        </p:txBody>
      </p:sp>
      <p:sp>
        <p:nvSpPr>
          <p:cNvPr id="7" name="title-maker">
            <a:extLst xmlns:a="http://schemas.openxmlformats.org/drawingml/2006/main">
              <a:ext uri="{FF2B5EF4-FFF2-40B4-BE49-F238E27FC236}">
                <a16:creationId xmlns:a16="http://schemas.microsoft.com/office/drawing/2014/main" id="{CF679DAE-6005-4D5C-8245-C2C37428F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4476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5EBDD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5EBDD"/>
                </a:solidFill>
                <a:latin typeface="Aptos"/>
                <a:ea typeface="Aptos"/>
                <a:cs typeface="Aptos"/>
              </a:rPr>
              <a:t>Henderson Damian Mejia Gonzales · Solo entrant</a:t>
            </a:r>
          </a:p>
        </p:txBody>
      </p:sp>
    </p:spTree>
    <p:extLst>
      <p:ext uri="{BB962C8B-B14F-4D97-AF65-F5344CB8AC3E}">
        <p14:creationId xmlns:p14="http://schemas.microsoft.com/office/powerpoint/2010/main" val="15478480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EBD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brand-2">
            <a:extLst xmlns:a="http://schemas.openxmlformats.org/drawingml/2006/main">
              <a:ext uri="{FF2B5EF4-FFF2-40B4-BE49-F238E27FC236}">
                <a16:creationId xmlns:a16="http://schemas.microsoft.com/office/drawing/2014/main" id="{21238F21-9465-4AE9-88E2-D3AF8CAAC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005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B243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2433"/>
                </a:solidFill>
                <a:latin typeface="Aptos"/>
                <a:ea typeface="Aptos"/>
                <a:cs typeface="Aptos"/>
              </a:rPr>
              <a:t>CREEKREADY</a:t>
            </a:r>
          </a:p>
        </p:txBody>
      </p:sp>
      <p:sp>
        <p:nvSpPr>
          <p:cNvPr id="2" name="brand-rule-2">
            <a:extLst xmlns:a="http://schemas.openxmlformats.org/drawingml/2006/main">
              <a:ext uri="{FF2B5EF4-FFF2-40B4-BE49-F238E27FC236}">
                <a16:creationId xmlns:a16="http://schemas.microsoft.com/office/drawing/2014/main" id="{6160E8E8-1FDB-43F0-865B-05AF58CF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048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6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page-2">
            <a:extLst xmlns:a="http://schemas.openxmlformats.org/drawingml/2006/main">
              <a:ext uri="{FF2B5EF4-FFF2-40B4-BE49-F238E27FC236}">
                <a16:creationId xmlns:a16="http://schemas.microsoft.com/office/drawing/2014/main" id="{0AA9EB50-208F-471D-BDD3-4ABB3961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F9A9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F9A9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4" name="problem-title">
            <a:extLst xmlns:a="http://schemas.openxmlformats.org/drawingml/2006/main">
              <a:ext uri="{FF2B5EF4-FFF2-40B4-BE49-F238E27FC236}">
                <a16:creationId xmlns:a16="http://schemas.microsoft.com/office/drawing/2014/main" id="{5D833C53-A619-4E82-A17D-C8F45735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00125"/>
            <a:ext cx="10382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B2433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0B2433"/>
                </a:solidFill>
                <a:latin typeface="Georgia"/>
                <a:ea typeface="Georgia"/>
                <a:cs typeface="Georgia"/>
              </a:rPr>
              <a:t>The alert arrives. The household must still decide.</a:t>
            </a:r>
          </a:p>
        </p:txBody>
      </p:sp>
      <p:sp>
        <p:nvSpPr>
          <p:cNvPr id="5" name="problem-subtitle">
            <a:extLst xmlns:a="http://schemas.openxmlformats.org/drawingml/2006/main">
              <a:ext uri="{FF2B5EF4-FFF2-40B4-BE49-F238E27FC236}">
                <a16:creationId xmlns:a16="http://schemas.microsoft.com/office/drawing/2014/main" id="{89E31FF0-5787-4C48-9924-816603290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95450"/>
            <a:ext cx="1028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43849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43849"/>
                </a:solidFill>
                <a:latin typeface="Aptos"/>
                <a:ea typeface="Aptos"/>
                <a:cs typeface="Aptos"/>
              </a:rPr>
              <a:t>In Cedar Creek, the last mile may include an older adult, a pet, limited mobility—or no vehicle.</a:t>
            </a:r>
          </a:p>
        </p:txBody>
      </p:sp>
      <p:sp>
        <p:nvSpPr>
          <p:cNvPr id="6" name="problem-left-field">
            <a:extLst xmlns:a="http://schemas.openxmlformats.org/drawingml/2006/main">
              <a:ext uri="{FF2B5EF4-FFF2-40B4-BE49-F238E27FC236}">
                <a16:creationId xmlns:a16="http://schemas.microsoft.com/office/drawing/2014/main" id="{C9778370-E7E2-4A2F-BFD1-8645D5536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71750"/>
            <a:ext cx="4953000" cy="300037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0B24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problem-left-label">
            <a:extLst xmlns:a="http://schemas.openxmlformats.org/drawingml/2006/main">
              <a:ext uri="{FF2B5EF4-FFF2-40B4-BE49-F238E27FC236}">
                <a16:creationId xmlns:a16="http://schemas.microsoft.com/office/drawing/2014/main" id="{2E51ED78-8A4D-4D46-933C-D0EA3A72D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24175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B0A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B0A4"/>
                </a:solidFill>
                <a:latin typeface="Aptos"/>
                <a:ea typeface="Aptos"/>
                <a:cs typeface="Aptos"/>
              </a:rPr>
              <a:t>COMMUNITY-WIDE WARNING</a:t>
            </a:r>
          </a:p>
        </p:txBody>
      </p:sp>
      <p:sp>
        <p:nvSpPr>
          <p:cNvPr id="8" name="alert-line-1">
            <a:extLst xmlns:a="http://schemas.openxmlformats.org/drawingml/2006/main">
              <a:ext uri="{FF2B5EF4-FFF2-40B4-BE49-F238E27FC236}">
                <a16:creationId xmlns:a16="http://schemas.microsoft.com/office/drawing/2014/main" id="{607D3C1F-9E3A-42B6-9952-EA3006C9A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29000"/>
            <a:ext cx="37338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6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alert-line-2">
            <a:extLst xmlns:a="http://schemas.openxmlformats.org/drawingml/2006/main">
              <a:ext uri="{FF2B5EF4-FFF2-40B4-BE49-F238E27FC236}">
                <a16:creationId xmlns:a16="http://schemas.microsoft.com/office/drawing/2014/main" id="{88451709-097E-4AC4-9950-127CB1E6D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24275"/>
            <a:ext cx="3219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CD4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alert-line-3">
            <a:extLst xmlns:a="http://schemas.openxmlformats.org/drawingml/2006/main">
              <a:ext uri="{FF2B5EF4-FFF2-40B4-BE49-F238E27FC236}">
                <a16:creationId xmlns:a16="http://schemas.microsoft.com/office/drawing/2014/main" id="{15AE53C6-FE5A-4988-9EB2-F2C442770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19550"/>
            <a:ext cx="400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CD4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alert-line-4">
            <a:extLst xmlns:a="http://schemas.openxmlformats.org/drawingml/2006/main">
              <a:ext uri="{FF2B5EF4-FFF2-40B4-BE49-F238E27FC236}">
                <a16:creationId xmlns:a16="http://schemas.microsoft.com/office/drawing/2014/main" id="{A929295E-1AE8-4D5C-9CAF-FC77FF1D6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14825"/>
            <a:ext cx="28003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CD4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alert-line-5">
            <a:extLst xmlns:a="http://schemas.openxmlformats.org/drawingml/2006/main">
              <a:ext uri="{FF2B5EF4-FFF2-40B4-BE49-F238E27FC236}">
                <a16:creationId xmlns:a16="http://schemas.microsoft.com/office/drawing/2014/main" id="{2EADA0DB-25B8-4D17-A19F-7662F08F9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10100"/>
            <a:ext cx="34480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CD4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alert-line-6">
            <a:extLst xmlns:a="http://schemas.openxmlformats.org/drawingml/2006/main">
              <a:ext uri="{FF2B5EF4-FFF2-40B4-BE49-F238E27FC236}">
                <a16:creationId xmlns:a16="http://schemas.microsoft.com/office/drawing/2014/main" id="{1B4DE041-6D35-4438-9442-DA9FB8946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05375"/>
            <a:ext cx="23622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CD4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problem-left-caption">
            <a:extLst xmlns:a="http://schemas.openxmlformats.org/drawingml/2006/main">
              <a:ext uri="{FF2B5EF4-FFF2-40B4-BE49-F238E27FC236}">
                <a16:creationId xmlns:a16="http://schemas.microsoft.com/office/drawing/2014/main" id="{58F497B1-A981-4BB0-8834-1C05A39CB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19700"/>
            <a:ext cx="390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5EBD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5EBDD"/>
                </a:solidFill>
                <a:latin typeface="Aptos"/>
                <a:ea typeface="Aptos"/>
                <a:cs typeface="Aptos"/>
              </a:rPr>
              <a:t>The official alert must cover the whole community.</a:t>
            </a:r>
          </a:p>
        </p:txBody>
      </p:sp>
      <p:sp>
        <p:nvSpPr>
          <p:cNvPr id="15" name="problem-gap">
            <a:extLst xmlns:a="http://schemas.openxmlformats.org/drawingml/2006/main">
              <a:ext uri="{FF2B5EF4-FFF2-40B4-BE49-F238E27FC236}">
                <a16:creationId xmlns:a16="http://schemas.microsoft.com/office/drawing/2014/main" id="{852A5DB4-9FB1-4035-B808-F3DFFA9B2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571750"/>
            <a:ext cx="66675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6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problem-question">
            <a:extLst xmlns:a="http://schemas.openxmlformats.org/drawingml/2006/main">
              <a:ext uri="{FF2B5EF4-FFF2-40B4-BE49-F238E27FC236}">
                <a16:creationId xmlns:a16="http://schemas.microsoft.com/office/drawing/2014/main" id="{03D167AB-C4FD-448F-95E8-84DE1E877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47950"/>
            <a:ext cx="457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26A5A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26A5A"/>
                </a:solidFill>
                <a:latin typeface="Georgia"/>
                <a:ea typeface="Georgia"/>
                <a:cs typeface="Georgia"/>
              </a:rPr>
              <a:t>But what do we do next?</a:t>
            </a:r>
          </a:p>
        </p:txBody>
      </p:sp>
      <p:sp>
        <p:nvSpPr>
          <p:cNvPr id="17" name="problem-num-01">
            <a:extLst xmlns:a="http://schemas.openxmlformats.org/drawingml/2006/main">
              <a:ext uri="{FF2B5EF4-FFF2-40B4-BE49-F238E27FC236}">
                <a16:creationId xmlns:a16="http://schemas.microsoft.com/office/drawing/2014/main" id="{7A22D5A2-7839-4EA6-91B6-8D8882D21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390900"/>
            <a:ext cx="438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F9A9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F9A9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8" name="problem-q-01">
            <a:extLst xmlns:a="http://schemas.openxmlformats.org/drawingml/2006/main">
              <a:ext uri="{FF2B5EF4-FFF2-40B4-BE49-F238E27FC236}">
                <a16:creationId xmlns:a16="http://schemas.microsoft.com/office/drawing/2014/main" id="{1E751F03-B378-4DBF-99FB-254D88148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362325"/>
            <a:ext cx="4095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2433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2433"/>
                </a:solidFill>
                <a:latin typeface="Aptos"/>
                <a:ea typeface="Aptos"/>
                <a:cs typeface="Aptos"/>
              </a:rPr>
              <a:t>Who needs help first?</a:t>
            </a:r>
          </a:p>
        </p:txBody>
      </p:sp>
      <p:sp>
        <p:nvSpPr>
          <p:cNvPr id="19" name="problem-num-02">
            <a:extLst xmlns:a="http://schemas.openxmlformats.org/drawingml/2006/main">
              <a:ext uri="{FF2B5EF4-FFF2-40B4-BE49-F238E27FC236}">
                <a16:creationId xmlns:a16="http://schemas.microsoft.com/office/drawing/2014/main" id="{5B6D63B3-B5A3-4B5B-9CE5-6A78561DC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14800"/>
            <a:ext cx="438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F9A9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F9A9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20" name="problem-q-02">
            <a:extLst xmlns:a="http://schemas.openxmlformats.org/drawingml/2006/main">
              <a:ext uri="{FF2B5EF4-FFF2-40B4-BE49-F238E27FC236}">
                <a16:creationId xmlns:a16="http://schemas.microsoft.com/office/drawing/2014/main" id="{88CE995C-54A2-4B52-A178-CA6B72D5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086225"/>
            <a:ext cx="4095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2433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2433"/>
                </a:solidFill>
                <a:latin typeface="Aptos"/>
                <a:ea typeface="Aptos"/>
                <a:cs typeface="Aptos"/>
              </a:rPr>
              <a:t>What should be staged now?</a:t>
            </a:r>
          </a:p>
        </p:txBody>
      </p:sp>
      <p:sp>
        <p:nvSpPr>
          <p:cNvPr id="21" name="problem-num-03">
            <a:extLst xmlns:a="http://schemas.openxmlformats.org/drawingml/2006/main">
              <a:ext uri="{FF2B5EF4-FFF2-40B4-BE49-F238E27FC236}">
                <a16:creationId xmlns:a16="http://schemas.microsoft.com/office/drawing/2014/main" id="{74C1C13A-5AAC-4E99-A185-3A46BEEDD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38700"/>
            <a:ext cx="438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F9A9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F9A9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2" name="problem-q-03">
            <a:extLst xmlns:a="http://schemas.openxmlformats.org/drawingml/2006/main">
              <a:ext uri="{FF2B5EF4-FFF2-40B4-BE49-F238E27FC236}">
                <a16:creationId xmlns:a16="http://schemas.microsoft.com/office/drawing/2014/main" id="{FCFB3E88-B091-4A1F-A8D5-EC13687D2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810125"/>
            <a:ext cx="4095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2433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2433"/>
                </a:solidFill>
                <a:latin typeface="Aptos"/>
                <a:ea typeface="Aptos"/>
                <a:cs typeface="Aptos"/>
              </a:rPr>
              <a:t>When should we stop planning and follow officials?</a:t>
            </a:r>
          </a:p>
        </p:txBody>
      </p:sp>
    </p:spTree>
    <p:extLst>
      <p:ext uri="{BB962C8B-B14F-4D97-AF65-F5344CB8AC3E}">
        <p14:creationId xmlns:p14="http://schemas.microsoft.com/office/powerpoint/2010/main" val="18573521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9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brand-3">
            <a:extLst xmlns:a="http://schemas.openxmlformats.org/drawingml/2006/main">
              <a:ext uri="{FF2B5EF4-FFF2-40B4-BE49-F238E27FC236}">
                <a16:creationId xmlns:a16="http://schemas.microsoft.com/office/drawing/2014/main" id="{EFE2D164-6DCD-4410-B227-E44337B10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005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B243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2433"/>
                </a:solidFill>
                <a:latin typeface="Aptos"/>
                <a:ea typeface="Aptos"/>
                <a:cs typeface="Aptos"/>
              </a:rPr>
              <a:t>CREEKREADY</a:t>
            </a:r>
          </a:p>
        </p:txBody>
      </p:sp>
      <p:sp>
        <p:nvSpPr>
          <p:cNvPr id="2" name="brand-rule-3">
            <a:extLst xmlns:a="http://schemas.openxmlformats.org/drawingml/2006/main">
              <a:ext uri="{FF2B5EF4-FFF2-40B4-BE49-F238E27FC236}">
                <a16:creationId xmlns:a16="http://schemas.microsoft.com/office/drawing/2014/main" id="{926C3705-4A9B-4286-BE22-7C190A394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048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6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page-3">
            <a:extLst xmlns:a="http://schemas.openxmlformats.org/drawingml/2006/main">
              <a:ext uri="{FF2B5EF4-FFF2-40B4-BE49-F238E27FC236}">
                <a16:creationId xmlns:a16="http://schemas.microsoft.com/office/drawing/2014/main" id="{D36A714A-876F-43F6-9B4B-D5F91530F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F9A9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F9A9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4" name="workflow-title">
            <a:extLst xmlns:a="http://schemas.openxmlformats.org/drawingml/2006/main">
              <a:ext uri="{FF2B5EF4-FFF2-40B4-BE49-F238E27FC236}">
                <a16:creationId xmlns:a16="http://schemas.microsoft.com/office/drawing/2014/main" id="{F57986E2-6C23-46A2-ADC7-3E76B3E3C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90650"/>
            <a:ext cx="22669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B2433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0B2433"/>
                </a:solidFill>
                <a:latin typeface="Georgia"/>
                <a:ea typeface="Georgia"/>
                <a:cs typeface="Georgia"/>
              </a:rPr>
              <a:t>One alert.
The whole plan in view.</a:t>
            </a:r>
          </a:p>
        </p:txBody>
      </p:sp>
      <p:sp>
        <p:nvSpPr>
          <p:cNvPr id="5" name="workflow-subtitle">
            <a:extLst xmlns:a="http://schemas.openxmlformats.org/drawingml/2006/main">
              <a:ext uri="{FF2B5EF4-FFF2-40B4-BE49-F238E27FC236}">
                <a16:creationId xmlns:a16="http://schemas.microsoft.com/office/drawing/2014/main" id="{4F3BCB84-7CBD-4109-AFCD-3FB520569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22669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43849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43849"/>
                </a:solidFill>
                <a:latin typeface="Aptos"/>
                <a:ea typeface="Aptos"/>
                <a:cs typeface="Aptos"/>
              </a:rPr>
              <a:t>Real CreekReady result: Featherless-ranked actions, household fit, three stages, and official sources.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df94a8a4924e94"/>
          <a:stretch xmlns:a="http://schemas.openxmlformats.org/drawingml/2006/main"/>
        </p:blipFill>
        <p:spPr>
          <a:xfrm xmlns:a="http://schemas.openxmlformats.org/drawingml/2006/main">
            <a:off x="3219450" y="1238250"/>
            <a:ext cx="8382000" cy="4714875"/>
          </a:xfrm>
          <a:prstGeom xmlns:a="http://schemas.openxmlformats.org/drawingml/2006/main" prst="roundRect">
            <a:avLst>
              <a:gd name="adj" fmla="val 2424"/>
            </a:avLst>
          </a:prstGeom>
        </p:spPr>
      </p:pic>
    </p:spTree>
    <p:extLst>
      <p:ext uri="{BB962C8B-B14F-4D97-AF65-F5344CB8AC3E}">
        <p14:creationId xmlns:p14="http://schemas.microsoft.com/office/powerpoint/2010/main" val="19430864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24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brand-4">
            <a:extLst xmlns:a="http://schemas.openxmlformats.org/drawingml/2006/main">
              <a:ext uri="{FF2B5EF4-FFF2-40B4-BE49-F238E27FC236}">
                <a16:creationId xmlns:a16="http://schemas.microsoft.com/office/drawing/2014/main" id="{DB05DB3C-792A-4102-A7AA-9B75CD5C1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005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5EBD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5EBDD"/>
                </a:solidFill>
                <a:latin typeface="Aptos"/>
                <a:ea typeface="Aptos"/>
                <a:cs typeface="Aptos"/>
              </a:rPr>
              <a:t>CREEKREADY</a:t>
            </a:r>
          </a:p>
        </p:txBody>
      </p:sp>
      <p:sp>
        <p:nvSpPr>
          <p:cNvPr id="2" name="brand-rule-4">
            <a:extLst xmlns:a="http://schemas.openxmlformats.org/drawingml/2006/main">
              <a:ext uri="{FF2B5EF4-FFF2-40B4-BE49-F238E27FC236}">
                <a16:creationId xmlns:a16="http://schemas.microsoft.com/office/drawing/2014/main" id="{6E958BDB-15CB-4173-946E-077164A9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048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6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page-4">
            <a:extLst xmlns:a="http://schemas.openxmlformats.org/drawingml/2006/main">
              <a:ext uri="{FF2B5EF4-FFF2-40B4-BE49-F238E27FC236}">
                <a16:creationId xmlns:a16="http://schemas.microsoft.com/office/drawing/2014/main" id="{5F589EB4-5FB2-42A7-8318-1F48756CC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BCD4D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CD4D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4" name="trust-title">
            <a:extLst xmlns:a="http://schemas.openxmlformats.org/drawingml/2006/main">
              <a:ext uri="{FF2B5EF4-FFF2-40B4-BE49-F238E27FC236}">
                <a16:creationId xmlns:a16="http://schemas.microsoft.com/office/drawing/2014/main" id="{093E2A90-D554-410D-998B-5A5785F52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90600"/>
            <a:ext cx="10287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5EBDD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F5EBDD"/>
                </a:solidFill>
                <a:latin typeface="Georgia"/>
                <a:ea typeface="Georgia"/>
                <a:cs typeface="Georgia"/>
              </a:rPr>
              <a:t>AI helps choose the order—not the facts.</a:t>
            </a:r>
          </a:p>
        </p:txBody>
      </p:sp>
      <p:sp>
        <p:nvSpPr>
          <p:cNvPr id="5" name="trust-subtitle">
            <a:extLst xmlns:a="http://schemas.openxmlformats.org/drawingml/2006/main">
              <a:ext uri="{FF2B5EF4-FFF2-40B4-BE49-F238E27FC236}">
                <a16:creationId xmlns:a16="http://schemas.microsoft.com/office/drawing/2014/main" id="{C8186927-1846-449C-8618-EA7E29B20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76400"/>
            <a:ext cx="981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BCD4D6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BCD4D6"/>
                </a:solidFill>
                <a:latin typeface="Aptos"/>
                <a:ea typeface="Aptos"/>
                <a:cs typeface="Aptos"/>
              </a:rPr>
              <a:t>A narrow role for Featherless keeps the safety boundary inspectable.</a:t>
            </a:r>
          </a:p>
        </p:txBody>
      </p:sp>
      <p:sp>
        <p:nvSpPr>
          <p:cNvPr id="6" name="trust-connector-1">
            <a:extLst xmlns:a="http://schemas.openxmlformats.org/drawingml/2006/main">
              <a:ext uri="{FF2B5EF4-FFF2-40B4-BE49-F238E27FC236}">
                <a16:creationId xmlns:a16="http://schemas.microsoft.com/office/drawing/2014/main" id="{C75AE7A7-BAF5-413F-A1BA-2FBC0A96F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590925"/>
            <a:ext cx="809625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26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trust-connector-2">
            <a:extLst xmlns:a="http://schemas.openxmlformats.org/drawingml/2006/main">
              <a:ext uri="{FF2B5EF4-FFF2-40B4-BE49-F238E27FC236}">
                <a16:creationId xmlns:a16="http://schemas.microsoft.com/office/drawing/2014/main" id="{B6370793-560D-46D2-8F8E-7D53835A1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3590925"/>
            <a:ext cx="809625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F9A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trust-connector-3">
            <a:extLst xmlns:a="http://schemas.openxmlformats.org/drawingml/2006/main">
              <a:ext uri="{FF2B5EF4-FFF2-40B4-BE49-F238E27FC236}">
                <a16:creationId xmlns:a16="http://schemas.microsoft.com/office/drawing/2014/main" id="{58D61DDA-FE97-45E0-8AFC-89AC2E54C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3590925"/>
            <a:ext cx="809625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26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rust-station-0">
            <a:extLst xmlns:a="http://schemas.openxmlformats.org/drawingml/2006/main">
              <a:ext uri="{FF2B5EF4-FFF2-40B4-BE49-F238E27FC236}">
                <a16:creationId xmlns:a16="http://schemas.microsoft.com/office/drawing/2014/main" id="{B7DDE7D9-37D8-456D-B627-FD0A29117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05100"/>
            <a:ext cx="2419350" cy="257175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5EB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trust-num-0">
            <a:extLst xmlns:a="http://schemas.openxmlformats.org/drawingml/2006/main">
              <a:ext uri="{FF2B5EF4-FFF2-40B4-BE49-F238E27FC236}">
                <a16:creationId xmlns:a16="http://schemas.microsoft.com/office/drawing/2014/main" id="{EDFB2FDF-4862-4EDC-A9B0-14C6DC2CD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43225"/>
            <a:ext cx="495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26A5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26A5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1" name="trust-heading-0">
            <a:extLst xmlns:a="http://schemas.openxmlformats.org/drawingml/2006/main">
              <a:ext uri="{FF2B5EF4-FFF2-40B4-BE49-F238E27FC236}">
                <a16:creationId xmlns:a16="http://schemas.microsoft.com/office/drawing/2014/main" id="{7EA4CFBA-7C39-4845-B082-E198E2A45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19475"/>
            <a:ext cx="1962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2433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0B2433"/>
                </a:solidFill>
                <a:latin typeface="Georgia"/>
                <a:ea typeface="Georgia"/>
                <a:cs typeface="Georgia"/>
              </a:rPr>
              <a:t>Facts stay bounded</a:t>
            </a:r>
          </a:p>
        </p:txBody>
      </p:sp>
      <p:sp>
        <p:nvSpPr>
          <p:cNvPr id="12" name="trust-body-0">
            <a:extLst xmlns:a="http://schemas.openxmlformats.org/drawingml/2006/main">
              <a:ext uri="{FF2B5EF4-FFF2-40B4-BE49-F238E27FC236}">
                <a16:creationId xmlns:a16="http://schemas.microsoft.com/office/drawing/2014/main" id="{696E75C9-F7BF-4BFE-87A7-BF3DD85CF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1962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4384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3849"/>
                </a:solidFill>
                <a:latin typeface="Aptos"/>
                <a:ea typeface="Aptos"/>
                <a:cs typeface="Aptos"/>
              </a:rPr>
              <a:t>Displayed place, timing, and official instructions: deterministic extraction, not model output.</a:t>
            </a:r>
          </a:p>
        </p:txBody>
      </p:sp>
      <p:sp>
        <p:nvSpPr>
          <p:cNvPr id="13" name="trust-station-1">
            <a:extLst xmlns:a="http://schemas.openxmlformats.org/drawingml/2006/main">
              <a:ext uri="{FF2B5EF4-FFF2-40B4-BE49-F238E27FC236}">
                <a16:creationId xmlns:a16="http://schemas.microsoft.com/office/drawing/2014/main" id="{C7511CEE-4EF9-46AC-88C6-E6A06EEA1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705100"/>
            <a:ext cx="2419350" cy="257175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26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trust-num-1">
            <a:extLst xmlns:a="http://schemas.openxmlformats.org/drawingml/2006/main">
              <a:ext uri="{FF2B5EF4-FFF2-40B4-BE49-F238E27FC236}">
                <a16:creationId xmlns:a16="http://schemas.microsoft.com/office/drawing/2014/main" id="{126B1E0F-7077-47EF-8DF6-D0A761237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943225"/>
            <a:ext cx="495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243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2433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trust-heading-1">
            <a:extLst xmlns:a="http://schemas.openxmlformats.org/drawingml/2006/main">
              <a:ext uri="{FF2B5EF4-FFF2-40B4-BE49-F238E27FC236}">
                <a16:creationId xmlns:a16="http://schemas.microsoft.com/office/drawing/2014/main" id="{D245E732-5E01-49C1-8E23-72E6953F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419475"/>
            <a:ext cx="1962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AI ranks vetted IDs</a:t>
            </a:r>
          </a:p>
        </p:txBody>
      </p:sp>
      <p:sp>
        <p:nvSpPr>
          <p:cNvPr id="16" name="trust-body-1">
            <a:extLst xmlns:a="http://schemas.openxmlformats.org/drawingml/2006/main">
              <a:ext uri="{FF2B5EF4-FFF2-40B4-BE49-F238E27FC236}">
                <a16:creationId xmlns:a16="http://schemas.microsoft.com/office/drawing/2014/main" id="{8EA48638-90AB-4B72-B94F-4B46FF195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171950"/>
            <a:ext cx="1962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Featherless orders exact instruction and action IDs; it cannot author visible guidance.</a:t>
            </a:r>
          </a:p>
        </p:txBody>
      </p:sp>
      <p:sp>
        <p:nvSpPr>
          <p:cNvPr id="17" name="trust-station-2">
            <a:extLst xmlns:a="http://schemas.openxmlformats.org/drawingml/2006/main">
              <a:ext uri="{FF2B5EF4-FFF2-40B4-BE49-F238E27FC236}">
                <a16:creationId xmlns:a16="http://schemas.microsoft.com/office/drawing/2014/main" id="{7935FE76-D0C1-4FFD-957B-8E1366100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705100"/>
            <a:ext cx="2419350" cy="257175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5F9A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trust-num-2">
            <a:extLst xmlns:a="http://schemas.openxmlformats.org/drawingml/2006/main">
              <a:ext uri="{FF2B5EF4-FFF2-40B4-BE49-F238E27FC236}">
                <a16:creationId xmlns:a16="http://schemas.microsoft.com/office/drawing/2014/main" id="{77628739-DCA7-4B94-8021-74287752F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943225"/>
            <a:ext cx="495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243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2433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9" name="trust-heading-2">
            <a:extLst xmlns:a="http://schemas.openxmlformats.org/drawingml/2006/main">
              <a:ext uri="{FF2B5EF4-FFF2-40B4-BE49-F238E27FC236}">
                <a16:creationId xmlns:a16="http://schemas.microsoft.com/office/drawing/2014/main" id="{F80CADF8-5E5D-4B7C-BF4D-B1F619A34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19475"/>
            <a:ext cx="1962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Output is validated</a:t>
            </a:r>
          </a:p>
        </p:txBody>
      </p:sp>
      <p:sp>
        <p:nvSpPr>
          <p:cNvPr id="20" name="trust-body-2">
            <a:extLst xmlns:a="http://schemas.openxmlformats.org/drawingml/2006/main">
              <a:ext uri="{FF2B5EF4-FFF2-40B4-BE49-F238E27FC236}">
                <a16:creationId xmlns:a16="http://schemas.microsoft.com/office/drawing/2014/main" id="{3C8EB212-95DD-4CD1-8FE1-66EE95563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171950"/>
            <a:ext cx="1962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Schema rules and request-specific allowlists reject malformed, unknown, duplicate, or extra output.</a:t>
            </a:r>
          </a:p>
        </p:txBody>
      </p:sp>
      <p:sp>
        <p:nvSpPr>
          <p:cNvPr id="21" name="trust-station-3">
            <a:extLst xmlns:a="http://schemas.openxmlformats.org/drawingml/2006/main">
              <a:ext uri="{FF2B5EF4-FFF2-40B4-BE49-F238E27FC236}">
                <a16:creationId xmlns:a16="http://schemas.microsoft.com/office/drawing/2014/main" id="{50240A91-27EC-48A8-A151-F9D28658D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705100"/>
            <a:ext cx="2419350" cy="257175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5EB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trust-num-3">
            <a:extLst xmlns:a="http://schemas.openxmlformats.org/drawingml/2006/main">
              <a:ext uri="{FF2B5EF4-FFF2-40B4-BE49-F238E27FC236}">
                <a16:creationId xmlns:a16="http://schemas.microsoft.com/office/drawing/2014/main" id="{7FE371B2-538D-444B-8C19-A05DA1697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43225"/>
            <a:ext cx="495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26A5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26A5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3" name="trust-heading-3">
            <a:extLst xmlns:a="http://schemas.openxmlformats.org/drawingml/2006/main">
              <a:ext uri="{FF2B5EF4-FFF2-40B4-BE49-F238E27FC236}">
                <a16:creationId xmlns:a16="http://schemas.microsoft.com/office/drawing/2014/main" id="{3942D502-E038-476E-802A-DAF87DD1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419475"/>
            <a:ext cx="1962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2433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0B2433"/>
                </a:solidFill>
                <a:latin typeface="Georgia"/>
                <a:ea typeface="Georgia"/>
                <a:cs typeface="Georgia"/>
              </a:rPr>
              <a:t>Failure is labeled</a:t>
            </a:r>
          </a:p>
        </p:txBody>
      </p:sp>
      <p:sp>
        <p:nvSpPr>
          <p:cNvPr id="24" name="trust-body-3">
            <a:extLst xmlns:a="http://schemas.openxmlformats.org/drawingml/2006/main">
              <a:ext uri="{FF2B5EF4-FFF2-40B4-BE49-F238E27FC236}">
                <a16:creationId xmlns:a16="http://schemas.microsoft.com/office/drawing/2014/main" id="{EA14D8C0-ED5C-43C3-ACA9-D93EE2925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71950"/>
            <a:ext cx="1962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4384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3849"/>
                </a:solidFill>
                <a:latin typeface="Aptos"/>
                <a:ea typeface="Aptos"/>
                <a:cs typeface="Aptos"/>
              </a:rPr>
              <a:t>Any provider or validation failure returns the deterministic guided fallback.</a:t>
            </a:r>
          </a:p>
        </p:txBody>
      </p:sp>
      <p:sp>
        <p:nvSpPr>
          <p:cNvPr id="25" name="trust-privacy">
            <a:extLst xmlns:a="http://schemas.openxmlformats.org/drawingml/2006/main">
              <a:ext uri="{FF2B5EF4-FFF2-40B4-BE49-F238E27FC236}">
                <a16:creationId xmlns:a16="http://schemas.microsoft.com/office/drawing/2014/main" id="{B3E882D0-30AC-4EAB-9777-4C1DCA247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7215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BCD4D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CD4D6"/>
                </a:solidFill>
                <a:latin typeface="Aptos"/>
                <a:ea typeface="Aptos"/>
                <a:cs typeface="Aptos"/>
              </a:rPr>
              <a:t>No account  ·  no database  ·  no server-side plan storage</a:t>
            </a:r>
          </a:p>
        </p:txBody>
      </p:sp>
    </p:spTree>
    <p:extLst>
      <p:ext uri="{BB962C8B-B14F-4D97-AF65-F5344CB8AC3E}">
        <p14:creationId xmlns:p14="http://schemas.microsoft.com/office/powerpoint/2010/main" val="8983020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EBD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brand-5">
            <a:extLst xmlns:a="http://schemas.openxmlformats.org/drawingml/2006/main">
              <a:ext uri="{FF2B5EF4-FFF2-40B4-BE49-F238E27FC236}">
                <a16:creationId xmlns:a16="http://schemas.microsoft.com/office/drawing/2014/main" id="{25E6D27F-AF41-4519-972B-A0DC2B24B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005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B243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2433"/>
                </a:solidFill>
                <a:latin typeface="Aptos"/>
                <a:ea typeface="Aptos"/>
                <a:cs typeface="Aptos"/>
              </a:rPr>
              <a:t>CREEKREADY</a:t>
            </a:r>
          </a:p>
        </p:txBody>
      </p:sp>
      <p:sp>
        <p:nvSpPr>
          <p:cNvPr id="2" name="brand-rule-5">
            <a:extLst xmlns:a="http://schemas.openxmlformats.org/drawingml/2006/main">
              <a:ext uri="{FF2B5EF4-FFF2-40B4-BE49-F238E27FC236}">
                <a16:creationId xmlns:a16="http://schemas.microsoft.com/office/drawing/2014/main" id="{5315F6D5-08EC-45FC-82B3-C7E4CBB4E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048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6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page-5">
            <a:extLst xmlns:a="http://schemas.openxmlformats.org/drawingml/2006/main">
              <a:ext uri="{FF2B5EF4-FFF2-40B4-BE49-F238E27FC236}">
                <a16:creationId xmlns:a16="http://schemas.microsoft.com/office/drawing/2014/main" id="{DB300CEB-97F4-4F15-8182-19538A16E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F9A9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F9A95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" name="close-navy-field">
            <a:extLst xmlns:a="http://schemas.openxmlformats.org/drawingml/2006/main">
              <a:ext uri="{FF2B5EF4-FFF2-40B4-BE49-F238E27FC236}">
                <a16:creationId xmlns:a16="http://schemas.microsoft.com/office/drawing/2014/main" id="{B712B8BB-202E-4E0E-AD24-30B89B864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23950"/>
            <a:ext cx="6343650" cy="4610100"/>
          </a:xfrm>
          <a:prstGeom xmlns:a="http://schemas.openxmlformats.org/drawingml/2006/main" prst="roundRect">
            <a:avLst>
              <a:gd name="adj" fmla="val 5785"/>
            </a:avLst>
          </a:prstGeom>
          <a:solidFill xmlns:a="http://schemas.openxmlformats.org/drawingml/2006/main">
            <a:srgbClr val="0B24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09AAC7A5-2A25-4D29-ACDD-10BAA2D7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811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B0A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B0A4"/>
                </a:solidFill>
                <a:latin typeface="Aptos"/>
                <a:ea typeface="Aptos"/>
                <a:cs typeface="Aptos"/>
              </a:rPr>
              <a:t>THE PROMISE</a:t>
            </a:r>
          </a:p>
        </p:txBody>
      </p:sp>
      <p:sp>
        <p:nvSpPr>
          <p:cNvPr id="6" name="close-alert">
            <a:extLst xmlns:a="http://schemas.openxmlformats.org/drawingml/2006/main">
              <a:ext uri="{FF2B5EF4-FFF2-40B4-BE49-F238E27FC236}">
                <a16:creationId xmlns:a16="http://schemas.microsoft.com/office/drawing/2014/main" id="{A81061B5-00C0-440C-9471-E4CA47864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14550"/>
            <a:ext cx="5143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5EBDD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F5EBDD"/>
                </a:solidFill>
                <a:latin typeface="Georgia"/>
                <a:ea typeface="Georgia"/>
                <a:cs typeface="Georgia"/>
              </a:rPr>
              <a:t>Official alert in.</a:t>
            </a:r>
          </a:p>
        </p:txBody>
      </p:sp>
      <p:sp>
        <p:nvSpPr>
          <p:cNvPr id="7" name="close-arrow">
            <a:extLst xmlns:a="http://schemas.openxmlformats.org/drawingml/2006/main">
              <a:ext uri="{FF2B5EF4-FFF2-40B4-BE49-F238E27FC236}">
                <a16:creationId xmlns:a16="http://schemas.microsoft.com/office/drawing/2014/main" id="{6866A0B0-AE0B-4415-B8E5-CE4FC6B0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1809750" cy="514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26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close-plan">
            <a:extLst xmlns:a="http://schemas.openxmlformats.org/drawingml/2006/main">
              <a:ext uri="{FF2B5EF4-FFF2-40B4-BE49-F238E27FC236}">
                <a16:creationId xmlns:a16="http://schemas.microsoft.com/office/drawing/2014/main" id="{CF41BFAE-9FFB-468E-AC3B-08B45FC29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24300"/>
            <a:ext cx="5048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9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Clear household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9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plan out.</a:t>
            </a:r>
          </a:p>
        </p:txBody>
      </p:sp>
      <p:sp>
        <p:nvSpPr>
          <p:cNvPr id="9" name="close-limit-title">
            <a:extLst xmlns:a="http://schemas.openxmlformats.org/drawingml/2006/main">
              <a:ext uri="{FF2B5EF4-FFF2-40B4-BE49-F238E27FC236}">
                <a16:creationId xmlns:a16="http://schemas.microsoft.com/office/drawing/2014/main" id="{E4D416F0-5AA4-40F2-AEB8-1F8A50101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276350"/>
            <a:ext cx="4000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B2433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0B2433"/>
                </a:solidFill>
                <a:latin typeface="Georgia"/>
                <a:ea typeface="Georgia"/>
                <a:cs typeface="Georgia"/>
              </a:rPr>
              <a:t>What this prototype does not do</a:t>
            </a:r>
          </a:p>
        </p:txBody>
      </p:sp>
      <p:sp>
        <p:nvSpPr>
          <p:cNvPr id="10" name="limit-mark-0">
            <a:extLst xmlns:a="http://schemas.openxmlformats.org/drawingml/2006/main">
              <a:ext uri="{FF2B5EF4-FFF2-40B4-BE49-F238E27FC236}">
                <a16:creationId xmlns:a16="http://schemas.microsoft.com/office/drawing/2014/main" id="{BB08F1E0-52FE-4D42-A16A-E9C625D78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3622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6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limit-0">
            <a:extLst xmlns:a="http://schemas.openxmlformats.org/drawingml/2006/main">
              <a:ext uri="{FF2B5EF4-FFF2-40B4-BE49-F238E27FC236}">
                <a16:creationId xmlns:a16="http://schemas.microsoft.com/office/drawing/2014/main" id="{0C66603E-24FF-4D3D-AE0F-E4BD9C0BD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314575"/>
            <a:ext cx="3638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43849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3849"/>
                </a:solidFill>
                <a:latin typeface="Aptos"/>
                <a:ea typeface="Aptos"/>
                <a:cs typeface="Aptos"/>
              </a:rPr>
              <a:t>It does not authenticate or monitor alerts.</a:t>
            </a:r>
          </a:p>
        </p:txBody>
      </p:sp>
      <p:sp>
        <p:nvSpPr>
          <p:cNvPr id="12" name="limit-mark-1">
            <a:extLst xmlns:a="http://schemas.openxmlformats.org/drawingml/2006/main">
              <a:ext uri="{FF2B5EF4-FFF2-40B4-BE49-F238E27FC236}">
                <a16:creationId xmlns:a16="http://schemas.microsoft.com/office/drawing/2014/main" id="{E430F468-7CCE-451A-85C2-7F3B64920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956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6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limit-1">
            <a:extLst xmlns:a="http://schemas.openxmlformats.org/drawingml/2006/main">
              <a:ext uri="{FF2B5EF4-FFF2-40B4-BE49-F238E27FC236}">
                <a16:creationId xmlns:a16="http://schemas.microsoft.com/office/drawing/2014/main" id="{A769A5B4-78C3-4946-A534-E7482692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048000"/>
            <a:ext cx="3638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43849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3849"/>
                </a:solidFill>
                <a:latin typeface="Aptos"/>
                <a:ea typeface="Aptos"/>
                <a:cs typeface="Aptos"/>
              </a:rPr>
              <a:t>It has no live weather, road, location, or emergency-services feed.</a:t>
            </a:r>
          </a:p>
        </p:txBody>
      </p:sp>
      <p:sp>
        <p:nvSpPr>
          <p:cNvPr id="14" name="limit-mark-2">
            <a:extLst xmlns:a="http://schemas.openxmlformats.org/drawingml/2006/main">
              <a:ext uri="{FF2B5EF4-FFF2-40B4-BE49-F238E27FC236}">
                <a16:creationId xmlns:a16="http://schemas.microsoft.com/office/drawing/2014/main" id="{661EFEE9-D96E-4FDE-9256-CE2BBEA5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8290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9A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limit-2">
            <a:extLst xmlns:a="http://schemas.openxmlformats.org/drawingml/2006/main">
              <a:ext uri="{FF2B5EF4-FFF2-40B4-BE49-F238E27FC236}">
                <a16:creationId xmlns:a16="http://schemas.microsoft.com/office/drawing/2014/main" id="{412A007B-7D45-4819-B7FA-5FD40286D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81425"/>
            <a:ext cx="3638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4384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3849"/>
                </a:solidFill>
                <a:latin typeface="Aptos"/>
                <a:ea typeface="Aptos"/>
                <a:cs typeface="Aptos"/>
              </a:rPr>
              <a:t>It does not replace the original alert or officials.</a:t>
            </a:r>
          </a:p>
        </p:txBody>
      </p:sp>
      <p:sp>
        <p:nvSpPr>
          <p:cNvPr id="16" name="limit-mark-3">
            <a:extLst xmlns:a="http://schemas.openxmlformats.org/drawingml/2006/main">
              <a:ext uri="{FF2B5EF4-FFF2-40B4-BE49-F238E27FC236}">
                <a16:creationId xmlns:a16="http://schemas.microsoft.com/office/drawing/2014/main" id="{FA1EFA20-5B0A-4E28-B88F-4BB33BC9B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5624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9A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limit-3">
            <a:extLst xmlns:a="http://schemas.openxmlformats.org/drawingml/2006/main">
              <a:ext uri="{FF2B5EF4-FFF2-40B4-BE49-F238E27FC236}">
                <a16:creationId xmlns:a16="http://schemas.microsoft.com/office/drawing/2014/main" id="{61BC56FC-451C-4163-BD65-665F76DF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514850"/>
            <a:ext cx="3638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43849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3849"/>
                </a:solidFill>
                <a:latin typeface="Aptos"/>
                <a:ea typeface="Aptos"/>
                <a:cs typeface="Aptos"/>
              </a:rPr>
              <a:t>It has no field-validated accuracy metric yet.</a:t>
            </a:r>
          </a:p>
        </p:txBody>
      </p:sp>
      <p:sp>
        <p:nvSpPr>
          <p:cNvPr id="18" name="close-rule">
            <a:extLst xmlns:a="http://schemas.openxmlformats.org/drawingml/2006/main">
              <a:ext uri="{FF2B5EF4-FFF2-40B4-BE49-F238E27FC236}">
                <a16:creationId xmlns:a16="http://schemas.microsoft.com/office/drawing/2014/main" id="{BD41F67F-2884-4BB4-88F7-CD444DE34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381625"/>
            <a:ext cx="4000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6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close-authority">
            <a:extLst xmlns:a="http://schemas.openxmlformats.org/drawingml/2006/main">
              <a:ext uri="{FF2B5EF4-FFF2-40B4-BE49-F238E27FC236}">
                <a16:creationId xmlns:a16="http://schemas.microsoft.com/office/drawing/2014/main" id="{F7C02C7F-0747-4D17-95CC-345E520AA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581650"/>
            <a:ext cx="400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2433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2433"/>
                </a:solidFill>
                <a:latin typeface="Aptos"/>
                <a:ea typeface="Aptos"/>
                <a:cs typeface="Aptos"/>
              </a:rPr>
              <a:t>The official signal stays in control.</a:t>
            </a:r>
          </a:p>
        </p:txBody>
      </p:sp>
    </p:spTree>
    <p:extLst>
      <p:ext uri="{BB962C8B-B14F-4D97-AF65-F5344CB8AC3E}">
        <p14:creationId xmlns:p14="http://schemas.microsoft.com/office/powerpoint/2010/main" val="11352893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2026-08-08T22:09:12.8280000Z</dcterms:created>
  <dcterms:modified xsi:type="dcterms:W3CDTF">2026-08-08T22:09:12.8280000Z</dcterms:modified>
</coreProperties>
</file>
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46c826f064c489d" /><Relationship Type="http://schemas.openxmlformats.org/officeDocument/2006/relationships/extended-properties" Target="/docProps/app.xml" Id="R70a01919296f4833" /><Relationship Type="http://schemas.openxmlformats.org/officeDocument/2006/relationships/officeDocument" Target="/ppt/presentation.xml" Id="Rbd1ee3955bdf4b7e" /></Relationships>
</file>

<file path=ppt/presentation.xml><?xml version="1.0" encoding="utf-8"?>
<p:presentation xmlns:p="http://schemas.openxmlformats.org/presentationml/2006/main">
  <p:sldMasterIdLst>
    <p:sldMasterId xmlns:r="http://schemas.openxmlformats.org/officeDocument/2006/relationships" id="2147483648" r:id="Rce2df2d1f9594b0a"/>
  </p:sldMasterIdLst>
  <p:notesMasterIdLst>
    <p:notesMasterId xmlns:r="http://schemas.openxmlformats.org/officeDocument/2006/relationships" r:id="R419106ea02324f63"/>
  </p:notesMasterIdLst>
  <p:sldIdLst>
    <p:sldId xmlns:r="http://schemas.openxmlformats.org/officeDocument/2006/relationships" id="256" r:id="Rc4f80346e5254661"/>
    <p:sldId xmlns:r="http://schemas.openxmlformats.org/officeDocument/2006/relationships" id="257" r:id="Ra1d0c82cece04151"/>
    <p:sldId xmlns:r="http://schemas.openxmlformats.org/officeDocument/2006/relationships" id="258" r:id="Racf9469d01b94ced"/>
    <p:sldId xmlns:r="http://schemas.openxmlformats.org/officeDocument/2006/relationships" id="259" r:id="Rfb4c7594978948ce"/>
    <p:sldId xmlns:r="http://schemas.openxmlformats.org/officeDocument/2006/relationships" id="260" r:id="Rcbd4b664cb85458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09d33d7316949df" /><Relationship Type="http://schemas.openxmlformats.org/officeDocument/2006/relationships/slideMaster" Target="/ppt/slideMasters/slideMaster1.xml" Id="Rce2df2d1f9594b0a" /><Relationship Type="http://schemas.openxmlformats.org/officeDocument/2006/relationships/notesMaster" Target="/ppt/notesMasters/notesMaster1.xml" Id="R419106ea02324f63" /><Relationship Type="http://schemas.openxmlformats.org/officeDocument/2006/relationships/presProps" Target="/ppt/presProps.xml" Id="R22358b9b07424987" /><Relationship Type="http://schemas.openxmlformats.org/officeDocument/2006/relationships/tableStyles" Target="/ppt/tableStyles.xml" Id="Rda07e82608e54646" /><Relationship Type="http://schemas.openxmlformats.org/officeDocument/2006/relationships/slide" Target="/ppt/slides/slide1.xml" Id="Rc4f80346e5254661" /><Relationship Type="http://schemas.openxmlformats.org/officeDocument/2006/relationships/slide" Target="/ppt/slides/slide2.xml" Id="Ra1d0c82cece04151" /><Relationship Type="http://schemas.openxmlformats.org/officeDocument/2006/relationships/slide" Target="/ppt/slides/slide3.xml" Id="Racf9469d01b94ced" /><Relationship Type="http://schemas.openxmlformats.org/officeDocument/2006/relationships/slide" Target="/ppt/slides/slide4.xml" Id="Rfb4c7594978948ce" /><Relationship Type="http://schemas.openxmlformats.org/officeDocument/2006/relationships/slide" Target="/ppt/slides/slide5.xml" Id="Rcbd4b664cb85458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1127fb2d6ba42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049f44746624236" /><Relationship Type="http://schemas.openxmlformats.org/officeDocument/2006/relationships/notesMaster" Target="/ppt/notesMasters/notesMaster1.xml" Id="R2d5d92fc686c42f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a6198e041864bbb" /><Relationship Type="http://schemas.openxmlformats.org/officeDocument/2006/relationships/notesMaster" Target="/ppt/notesMasters/notesMaster1.xml" Id="R485494b187674cf2" /></Relationships>
</file>

<file path=ppt/notesSlides/_rels/notesSlide3.xml.rels>&#65279;<?xml version="1.0" encoding="utf-8"?><Relationships xmlns="http://schemas.openxmlformats.org/package/2006/relationships"><Relationship Type="http://schemas.openxmlformats.org/officeDocument/2006/relationships/slide" Target="/ppt/slides/slide3.xml" Id="R48a1dfa2955b4d5c" /><Relationship Type="http://schemas.openxmlformats.org/officeDocument/2006/relationships/notesMaster" Target="/ppt/notesMasters/notesMaster1.xml" Id="Raaf17524ae49449d" /></Relationships>
</file>

<file path=ppt/notesSlides/_rels/notesSlide4.xml.rels>&#65279;<?xml version="1.0" encoding="utf-8"?><Relationships xmlns="http://schemas.openxmlformats.org/package/2006/relationships"><Relationship Type="http://schemas.openxmlformats.org/officeDocument/2006/relationships/slide" Target="/ppt/slides/slide4.xml" Id="R5288754675c74b4a" /><Relationship Type="http://schemas.openxmlformats.org/officeDocument/2006/relationships/notesMaster" Target="/ppt/notesMasters/notesMaster1.xml" Id="R2556a0603ca64660" /></Relationships>
</file>

<file path=ppt/notesSlides/_rels/notesSlide5.xml.rels>&#65279;<?xml version="1.0" encoding="utf-8"?><Relationships xmlns="http://schemas.openxmlformats.org/package/2006/relationships"><Relationship Type="http://schemas.openxmlformats.org/officeDocument/2006/relationships/slide" Target="/ppt/slides/slide5.xml" Id="R88aa609621aa4ec4" /><Relationship Type="http://schemas.openxmlformats.org/officeDocument/2006/relationships/notesMaster" Target="/ppt/notesMasters/notesMaster1.xml" Id="R74a895c7041b438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0:00–0:12 — An emergency alert is only useful if a household can act on it. CreekReady turns the warning a family already received into a clear, source-linked plan.</a:t>
            </a:r>
          </a:p>
          <a:p xmlns:a="http://schemas.openxmlformats.org/drawingml/2006/main">
            <a:r>
              <a:t/>
            </a:r>
          </a:p>
          <a:p xmlns:a="http://schemas.openxmlformats.org/drawingml/2006/main">
            <a:r>
              <a:t>[Sources]</a:t>
            </a:r>
          </a:p>
          <a:p xmlns:a="http://schemas.openxmlformats.org/drawingml/2006/main">
            <a:r>
              <a:t>- docs/assets/creekready-cover.png — generated editorial illustration; not a live event or product screenshot.</a:t>
            </a:r>
          </a:p>
          <a:p xmlns:a="http://schemas.openxmlformats.org/drawingml/2006/main">
            <a:r>
              <a:t>- README.md — project positioning and tagline.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0:12–0:32 — Community alerts are necessarily broad. The action gap appears when a specific household has to account for people, pets, mobility, or transportation without losing the original official signal.</a:t>
            </a:r>
          </a:p>
          <a:p xmlns:a="http://schemas.openxmlformats.org/drawingml/2006/main">
            <a:r>
              <a:t/>
            </a:r>
          </a:p>
          <a:p xmlns:a="http://schemas.openxmlformats.org/drawingml/2006/main">
            <a:r>
              <a:t>[Sources]</a:t>
            </a:r>
          </a:p>
          <a:p xmlns:a="http://schemas.openxmlformats.org/drawingml/2006/main">
            <a:r>
              <a:t>- https://www.co.bastrop.tx.us/page/em.wildfire_mitigation_program — local Bastrop County preparedness context.</a:t>
            </a:r>
          </a:p>
          <a:p xmlns:a="http://schemas.openxmlformats.org/drawingml/2006/main">
            <a:r>
              <a:t>- https://www.ready.gov/plan — FEMA household planning guidance.</a:t>
            </a:r>
          </a:p>
          <a:p xmlns:a="http://schemas.openxmlformats.org/drawingml/2006/main">
            <a:r>
              <a:t>- README.md — CreekReady problem statement and supported household constraints.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0:32–1:08 — Paste a sample official alert, select practical household constraints, and generate. The app extracts the displayed fact panel deterministically. The result then organizes actions into Now, Next, and If conditions worsen, with source IDs retained.</a:t>
            </a:r>
          </a:p>
          <a:p xmlns:a="http://schemas.openxmlformats.org/drawingml/2006/main">
            <a:r>
              <a:t/>
            </a:r>
          </a:p>
          <a:p xmlns:a="http://schemas.openxmlformats.org/drawingml/2006/main">
            <a:r>
              <a:t>[Sources]</a:t>
            </a:r>
          </a:p>
          <a:p xmlns:a="http://schemas.openxmlformats.org/drawingml/2006/main">
            <a:r>
              <a:t>- README.md — demonstrated end-to-end workflow and current limitations.</a:t>
            </a:r>
          </a:p>
          <a:p xmlns:a="http://schemas.openxmlformats.org/drawingml/2006/main">
            <a:r>
              <a:t>- creekready/service.py — planning service and deterministic fact-panel ownership.</a:t>
            </a:r>
          </a:p>
          <a:p xmlns:a="http://schemas.openxmlformats.org/drawingml/2006/main">
            <a:r>
              <a:t>- creekready/fallback.py — staged fallback action construction.</a:t>
            </a:r>
          </a:p>
          <a:p xmlns:a="http://schemas.openxmlformats.org/drawingml/2006/main">
            <a:r>
              <a:t>- https://www.weather.gov/safety/flood; https://www.weather.gov/safety/heat; https://www.ready.gov/wildfires; https://www.ready.gov/plan — official guidance sources surfaced by the app.</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1:08–1:38 — This is the key engineering boundary. When enabled, Featherless receives the pasted alert plus a vetted action catalog and returns only ordered action IDs. Displayed facts come from deterministic extraction, and schema and source checks fail closed to a clearly labeled fallback.</a:t>
            </a:r>
          </a:p>
          <a:p xmlns:a="http://schemas.openxmlformats.org/drawingml/2006/main">
            <a:r>
              <a:t/>
            </a:r>
          </a:p>
          <a:p xmlns:a="http://schemas.openxmlformats.org/drawingml/2006/main">
            <a:r>
              <a:t>[Sources]</a:t>
            </a:r>
          </a:p>
          <a:p xmlns:a="http://schemas.openxmlformats.org/drawingml/2006/main">
            <a:r>
              <a:t>- creekready/service.py — deterministic fact panel, provider selection, and fallback behavior.</a:t>
            </a:r>
          </a:p>
          <a:p xmlns:a="http://schemas.openxmlformats.org/drawingml/2006/main">
            <a:r>
              <a:t>- creekready/provider.py; creekready/catalog.py — Featherless ranking contract, vetted action catalog, and fail-closed selection validation.</a:t>
            </a:r>
          </a:p>
          <a:p xmlns:a="http://schemas.openxmlformats.org/drawingml/2006/main">
            <a:r>
              <a:t>- creekready/models.py; creekready/sources.py — bounded response contracts and official-source allowlist.</a:t>
            </a:r>
          </a:p>
          <a:p xmlns:a="http://schemas.openxmlformats.org/drawingml/2006/main">
            <a:r>
              <a:t>- README.md — privacy statement, modes, and provider behavior.</a:t>
            </a:r>
          </a:p>
          <a:p xmlns:a="http://schemas.openxmlformats.org/drawingml/2006/main">
            <a:r>
              <a:t>- https://featherless.ai/docs/quickstart-guide — OpenAI-compatible Featherless integration reference.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1:38–2:00 — CreekReady does not create a warning. It helps a household act on one, with the official signal still in control. Close on the complete plan in the live demo: official alert in, clear household plan out.</a:t>
            </a:r>
          </a:p>
          <a:p xmlns:a="http://schemas.openxmlformats.org/drawingml/2006/main">
            <a:r>
              <a:t/>
            </a:r>
          </a:p>
          <a:p xmlns:a="http://schemas.openxmlformats.org/drawingml/2006/main">
            <a:r>
              <a:t>[Sources]</a:t>
            </a:r>
          </a:p>
          <a:p xmlns:a="http://schemas.openxmlformats.org/drawingml/2006/main">
            <a:r>
              <a:t>- README.md — exact current limitations, privacy posture, and no-live-data statement.</a:t>
            </a:r>
          </a:p>
          <a:p xmlns:a="http://schemas.openxmlformats.org/drawingml/2006/main">
            <a:r>
              <a:t>- docs/pitch-script.md — closing language and judge-question limitations.</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8099ea6bd1549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5844a42412c41d2" /><Relationship Type="http://schemas.openxmlformats.org/officeDocument/2006/relationships/slideLayout" Target="/ppt/slideLayouts/slideLayout1.xml" Id="R6a321b56f917446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321b56f917446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aa820ea5ccc48c8" /><Relationship Type="http://schemas.openxmlformats.org/officeDocument/2006/relationships/image" Target="/ppt/media/image.png" Id="Red69c21fdf32492f" /><Relationship Type="http://schemas.openxmlformats.org/officeDocument/2006/relationships/notesSlide" Target="/ppt/notesSlides/notesSlide1.xml" Id="R8e8c6241bf7d41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ff518345ca94c3d" /><Relationship Type="http://schemas.openxmlformats.org/officeDocument/2006/relationships/notesSlide" Target="/ppt/notesSlides/notesSlide2.xml" Id="Rb4153fb8153c44f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4fc1300f07e4582" /><Relationship Type="http://schemas.openxmlformats.org/officeDocument/2006/relationships/notesSlide" Target="/ppt/notesSlides/notesSlide3.xml" Id="R51e84f67f11f41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0f096a715244228" /><Relationship Type="http://schemas.openxmlformats.org/officeDocument/2006/relationships/notesSlide" Target="/ppt/notesSlides/notesSlide4.xml" Id="Rc534a88458574a3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7fd782fa3e84813" /><Relationship Type="http://schemas.openxmlformats.org/officeDocument/2006/relationships/notesSlide" Target="/ppt/notesSlides/notesSlide5.xml" Id="R78e64335c3b948f5" /></Relationships>
</file>

<file path=ppt/slides/slide1.xml><?xml version="1.0" encoding="utf-8"?>
<p:sld xmlns:p="http://schemas.openxmlformats.org/presentationml/2006/main">
  <p:cSld>
    <p:bg>
      <p:bgPr>
        <a:solidFill xmlns:a="http://schemas.openxmlformats.org/drawingml/2006/main">
          <a:srgbClr val="0B2433"/>
        </a:solidFill>
      </p:bgPr>
    </p:bg>
    <p:spTree>
      <p:nvGrpSpPr>
        <p:cNvPr id="1" name=""/>
        <p:cNvGrpSpPr/>
        <p:nvPr/>
      </p:nvGrpSpPr>
      <p:grpSpPr>
        <a:xfrm xmlns:a="http://schemas.openxmlformats.org/drawingml/2006/main"/>
      </p:grpSpPr>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ed69c21fdf32492f"/>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itle-dark-field">
            <a:extLst xmlns:a="http://schemas.openxmlformats.org/drawingml/2006/main">
              <a:ext uri="{FF2B5EF4-FFF2-40B4-BE49-F238E27FC236}">
                <a16:creationId xmlns:a16="http://schemas.microsoft.com/office/drawing/2014/main" id="{05FE2CF6-E02F-4A69-BAF0-3D3E7819FA62}"/>
              </a:ext>
            </a:extLst>
          </p:cNvPr>
          <p:cNvSpPr>
            <a:spLocks xmlns:a="http://schemas.openxmlformats.org/drawingml/2006/main" noGrp="1"/>
          </p:cNvSpPr>
          <p:nvPr/>
        </p:nvSpPr>
        <p:spPr>
          <a:xfrm xmlns:a="http://schemas.openxmlformats.org/drawingml/2006/main">
            <a:off x="0" y="0"/>
            <a:ext cx="5810250" cy="6858000"/>
          </a:xfrm>
          <a:prstGeom xmlns:a="http://schemas.openxmlformats.org/drawingml/2006/main" prst="rect">
            <a:avLst/>
          </a:prstGeom>
          <a:solidFill xmlns:a="http://schemas.openxmlformats.org/drawingml/2006/main">
            <a:srgbClr val="0B2433">
              <a:alpha val="90980"/>
            </a:srgbClr>
          </a:solidFill>
          <a:ln xmlns:a="http://schemas.openxmlformats.org/drawingml/2006/main" w="0">
            <a:solidFill>
              <a:srgbClr val="000000">
                <a:alpha val="0"/>
              </a:srgbClr>
            </a:solidFill>
            <a:prstDash val="solid"/>
          </a:ln>
        </p:spPr>
      </p:sp>
      <p:sp>
        <p:nvSpPr>
          <p:cNvPr id="3" name="title-coral-rule">
            <a:extLst xmlns:a="http://schemas.openxmlformats.org/drawingml/2006/main">
              <a:ext uri="{FF2B5EF4-FFF2-40B4-BE49-F238E27FC236}">
                <a16:creationId xmlns:a16="http://schemas.microsoft.com/office/drawing/2014/main" id="{30271B10-580E-448F-B7FD-0ADEEB3274D8}"/>
              </a:ext>
            </a:extLst>
          </p:cNvPr>
          <p:cNvSpPr>
            <a:spLocks xmlns:a="http://schemas.openxmlformats.org/drawingml/2006/main" noGrp="1"/>
          </p:cNvSpPr>
          <p:nvPr/>
        </p:nvSpPr>
        <p:spPr>
          <a:xfrm xmlns:a="http://schemas.openxmlformats.org/drawingml/2006/main">
            <a:off x="666750" y="990600"/>
            <a:ext cx="876300" cy="66675"/>
          </a:xfrm>
          <a:prstGeom xmlns:a="http://schemas.openxmlformats.org/drawingml/2006/main" prst="rect">
            <a:avLst/>
          </a:prstGeom>
          <a:solidFill xmlns:a="http://schemas.openxmlformats.org/drawingml/2006/main">
            <a:srgbClr val="F26A5A"/>
          </a:solidFill>
          <a:ln xmlns:a="http://schemas.openxmlformats.org/drawingml/2006/main" w="0">
            <a:solidFill>
              <a:srgbClr val="000000">
                <a:alpha val="0"/>
              </a:srgbClr>
            </a:solidFill>
            <a:prstDash val="solid"/>
          </a:ln>
        </p:spPr>
      </p:sp>
      <p:sp>
        <p:nvSpPr>
          <p:cNvPr id="4" name="title-event">
            <a:extLst xmlns:a="http://schemas.openxmlformats.org/drawingml/2006/main">
              <a:ext uri="{FF2B5EF4-FFF2-40B4-BE49-F238E27FC236}">
                <a16:creationId xmlns:a16="http://schemas.microsoft.com/office/drawing/2014/main" id="{F27BD96A-DC89-4E8F-91BE-0451F759BB32}"/>
              </a:ext>
            </a:extLst>
          </p:cNvPr>
          <p:cNvSpPr>
            <a:spLocks xmlns:a="http://schemas.openxmlformats.org/drawingml/2006/main" noGrp="1"/>
          </p:cNvSpPr>
          <p:nvPr/>
        </p:nvSpPr>
        <p:spPr>
          <a:xfrm xmlns:a="http://schemas.openxmlformats.org/drawingml/2006/main">
            <a:off x="666750" y="590550"/>
            <a:ext cx="3429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BCD4D6"/>
                </a:solidFill>
                <a:latin typeface="Aptos"/>
                <a:ea typeface="Aptos"/>
                <a:cs typeface="Aptos"/>
              </a:defRPr>
            </a:pPr>
            <a:r>
              <a:rPr sz="1200" b="1">
                <a:solidFill>
                  <a:srgbClr val="BCD4D6"/>
                </a:solidFill>
                <a:latin typeface="Aptos"/>
                <a:ea typeface="Aptos"/>
                <a:cs typeface="Aptos"/>
              </a:rPr>
              <a:t>IRIS HACKS IV · 2026</a:t>
            </a:r>
          </a:p>
        </p:txBody>
      </p:sp>
      <p:sp>
        <p:nvSpPr>
          <p:cNvPr id="5" name="title-name">
            <a:extLst xmlns:a="http://schemas.openxmlformats.org/drawingml/2006/main">
              <a:ext uri="{FF2B5EF4-FFF2-40B4-BE49-F238E27FC236}">
                <a16:creationId xmlns:a16="http://schemas.microsoft.com/office/drawing/2014/main" id="{13848B68-1C4D-4CD8-AE0C-B8A72F54C1F3}"/>
              </a:ext>
            </a:extLst>
          </p:cNvPr>
          <p:cNvSpPr>
            <a:spLocks xmlns:a="http://schemas.openxmlformats.org/drawingml/2006/main" noGrp="1"/>
          </p:cNvSpPr>
          <p:nvPr/>
        </p:nvSpPr>
        <p:spPr>
          <a:xfrm xmlns:a="http://schemas.openxmlformats.org/drawingml/2006/main">
            <a:off x="666750" y="1428750"/>
            <a:ext cx="4476750" cy="876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5100" b="1">
                <a:solidFill>
                  <a:srgbClr val="F5EBDD"/>
                </a:solidFill>
                <a:latin typeface="Georgia"/>
                <a:ea typeface="Georgia"/>
                <a:cs typeface="Georgia"/>
              </a:defRPr>
            </a:pPr>
            <a:r>
              <a:rPr sz="5100" b="1">
                <a:solidFill>
                  <a:srgbClr val="F5EBDD"/>
                </a:solidFill>
                <a:latin typeface="Georgia"/>
                <a:ea typeface="Georgia"/>
                <a:cs typeface="Georgia"/>
              </a:rPr>
              <a:t>CreekReady</a:t>
            </a:r>
          </a:p>
        </p:txBody>
      </p:sp>
      <p:sp>
        <p:nvSpPr>
          <p:cNvPr id="6" name="title-tagline">
            <a:extLst xmlns:a="http://schemas.openxmlformats.org/drawingml/2006/main">
              <a:ext uri="{FF2B5EF4-FFF2-40B4-BE49-F238E27FC236}">
                <a16:creationId xmlns:a16="http://schemas.microsoft.com/office/drawing/2014/main" id="{0FE334CE-00FE-4D88-A5A7-C62D5F2F10BA}"/>
              </a:ext>
            </a:extLst>
          </p:cNvPr>
          <p:cNvSpPr>
            <a:spLocks xmlns:a="http://schemas.openxmlformats.org/drawingml/2006/main" noGrp="1"/>
          </p:cNvSpPr>
          <p:nvPr/>
        </p:nvSpPr>
        <p:spPr>
          <a:xfrm xmlns:a="http://schemas.openxmlformats.org/drawingml/2006/main">
            <a:off x="666750" y="2609850"/>
            <a:ext cx="4191000" cy="1104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400" b="0">
                <a:solidFill>
                  <a:srgbClr val="FFFFFF"/>
                </a:solidFill>
                <a:latin typeface="Georgia"/>
                <a:ea typeface="Georgia"/>
                <a:cs typeface="Georgia"/>
              </a:defRPr>
            </a:pPr>
            <a:r>
              <a:rPr sz="2400" b="0">
                <a:solidFill>
                  <a:srgbClr val="FFFFFF"/>
                </a:solidFill>
                <a:latin typeface="Georgia"/>
                <a:ea typeface="Georgia"/>
                <a:cs typeface="Georgia"/>
              </a:rPr>
              <a:t>Official alert in.</a:t>
            </a:r>
          </a:p>
          <a:p xmlns:a="http://schemas.openxmlformats.org/drawingml/2006/main">
            <a:pPr algn="l">
              <a:buNone/>
              <a:defRPr sz="2400" b="0">
                <a:solidFill>
                  <a:srgbClr val="FFFFFF"/>
                </a:solidFill>
                <a:latin typeface="Georgia"/>
                <a:ea typeface="Georgia"/>
                <a:cs typeface="Georgia"/>
              </a:defRPr>
            </a:pPr>
            <a:r>
              <a:rPr sz="2400" b="0">
                <a:solidFill>
                  <a:srgbClr val="FFFFFF"/>
                </a:solidFill>
                <a:latin typeface="Georgia"/>
                <a:ea typeface="Georgia"/>
                <a:cs typeface="Georgia"/>
              </a:rPr>
              <a:t>Clear household plan out.</a:t>
            </a:r>
          </a:p>
        </p:txBody>
      </p:sp>
      <p:sp>
        <p:nvSpPr>
          <p:cNvPr id="7" name="title-maker">
            <a:extLst xmlns:a="http://schemas.openxmlformats.org/drawingml/2006/main">
              <a:ext uri="{FF2B5EF4-FFF2-40B4-BE49-F238E27FC236}">
                <a16:creationId xmlns:a16="http://schemas.microsoft.com/office/drawing/2014/main" id="{CF679DAE-6005-4D5C-8245-C2C37428F5D9}"/>
              </a:ext>
            </a:extLst>
          </p:cNvPr>
          <p:cNvSpPr>
            <a:spLocks xmlns:a="http://schemas.openxmlformats.org/drawingml/2006/main" noGrp="1"/>
          </p:cNvSpPr>
          <p:nvPr/>
        </p:nvSpPr>
        <p:spPr>
          <a:xfrm xmlns:a="http://schemas.openxmlformats.org/drawingml/2006/main">
            <a:off x="666750" y="5810250"/>
            <a:ext cx="447675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75" b="0">
                <a:solidFill>
                  <a:srgbClr val="F5EBDD"/>
                </a:solidFill>
                <a:latin typeface="Aptos"/>
                <a:ea typeface="Aptos"/>
                <a:cs typeface="Aptos"/>
              </a:defRPr>
            </a:pPr>
            <a:r>
              <a:rPr sz="1275" b="0">
                <a:solidFill>
                  <a:srgbClr val="F5EBDD"/>
                </a:solidFill>
                <a:latin typeface="Aptos"/>
                <a:ea typeface="Aptos"/>
                <a:cs typeface="Aptos"/>
              </a:rPr>
              <a:t>Henderson Damian Mejia Gonzales · Solo entrant</a:t>
            </a:r>
          </a:p>
        </p:txBody>
      </p:sp>
    </p:spTree>
    <p:extLst>
      <p:ext uri="{BB962C8B-B14F-4D97-AF65-F5344CB8AC3E}">
        <p14:creationId xmlns:p14="http://schemas.microsoft.com/office/powerpoint/2010/main" val="1547848081"/>
      </p:ext>
    </p:extLst>
  </p:cSld>
</p:sld>
</file>

<file path=ppt/slides/slide2.xml><?xml version="1.0" encoding="utf-8"?>
<p:sld xmlns:p="http://schemas.openxmlformats.org/presentationml/2006/main">
  <p:cSld>
    <p:bg>
      <p:bgPr>
        <a:solidFill xmlns:a="http://schemas.openxmlformats.org/drawingml/2006/main">
          <a:srgbClr val="F5EBDD"/>
        </a:solidFill>
      </p:bgPr>
    </p:bg>
    <p:spTree>
      <p:nvGrpSpPr>
        <p:cNvPr id="1" name=""/>
        <p:cNvGrpSpPr/>
        <p:nvPr/>
      </p:nvGrpSpPr>
      <p:grpSpPr>
        <a:xfrm xmlns:a="http://schemas.openxmlformats.org/drawingml/2006/main"/>
      </p:grpSpPr>
      <p:sp>
        <p:nvSpPr>
          <p:cNvPr id="23" name="brand-2">
            <a:extLst xmlns:a="http://schemas.openxmlformats.org/drawingml/2006/main">
              <a:ext uri="{FF2B5EF4-FFF2-40B4-BE49-F238E27FC236}">
                <a16:creationId xmlns:a16="http://schemas.microsoft.com/office/drawing/2014/main" id="{21238F21-9465-4AE9-88E2-D3AF8CAACD60}"/>
              </a:ext>
            </a:extLst>
          </p:cNvPr>
          <p:cNvSpPr>
            <a:spLocks xmlns:a="http://schemas.openxmlformats.org/drawingml/2006/main" noGrp="1"/>
          </p:cNvSpPr>
          <p:nvPr/>
        </p:nvSpPr>
        <p:spPr>
          <a:xfrm xmlns:a="http://schemas.openxmlformats.org/drawingml/2006/main">
            <a:off x="590550" y="40005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0B2433"/>
                </a:solidFill>
                <a:latin typeface="Aptos"/>
                <a:ea typeface="Aptos"/>
                <a:cs typeface="Aptos"/>
              </a:defRPr>
            </a:pPr>
            <a:r>
              <a:rPr sz="1200" b="1">
                <a:solidFill>
                  <a:srgbClr val="0B2433"/>
                </a:solidFill>
                <a:latin typeface="Aptos"/>
                <a:ea typeface="Aptos"/>
                <a:cs typeface="Aptos"/>
              </a:rPr>
              <a:t>CREEKREADY</a:t>
            </a:r>
          </a:p>
        </p:txBody>
      </p:sp>
      <p:sp>
        <p:nvSpPr>
          <p:cNvPr id="2" name="brand-rule-2">
            <a:extLst xmlns:a="http://schemas.openxmlformats.org/drawingml/2006/main">
              <a:ext uri="{FF2B5EF4-FFF2-40B4-BE49-F238E27FC236}">
                <a16:creationId xmlns:a16="http://schemas.microsoft.com/office/drawing/2014/main" id="{6160E8E8-1FDB-43F0-865B-05AF58CF572D}"/>
              </a:ext>
            </a:extLst>
          </p:cNvPr>
          <p:cNvSpPr>
            <a:spLocks xmlns:a="http://schemas.openxmlformats.org/drawingml/2006/main" noGrp="1"/>
          </p:cNvSpPr>
          <p:nvPr/>
        </p:nvSpPr>
        <p:spPr>
          <a:xfrm xmlns:a="http://schemas.openxmlformats.org/drawingml/2006/main">
            <a:off x="590550" y="704850"/>
            <a:ext cx="685800" cy="47625"/>
          </a:xfrm>
          <a:prstGeom xmlns:a="http://schemas.openxmlformats.org/drawingml/2006/main" prst="rect">
            <a:avLst/>
          </a:prstGeom>
          <a:solidFill xmlns:a="http://schemas.openxmlformats.org/drawingml/2006/main">
            <a:srgbClr val="F26A5A"/>
          </a:solidFill>
          <a:ln xmlns:a="http://schemas.openxmlformats.org/drawingml/2006/main" w="0">
            <a:solidFill>
              <a:srgbClr val="000000">
                <a:alpha val="0"/>
              </a:srgbClr>
            </a:solidFill>
            <a:prstDash val="solid"/>
          </a:ln>
        </p:spPr>
      </p:sp>
      <p:sp>
        <p:nvSpPr>
          <p:cNvPr id="3" name="page-2">
            <a:extLst xmlns:a="http://schemas.openxmlformats.org/drawingml/2006/main">
              <a:ext uri="{FF2B5EF4-FFF2-40B4-BE49-F238E27FC236}">
                <a16:creationId xmlns:a16="http://schemas.microsoft.com/office/drawing/2014/main" id="{0AA9EB50-208F-471D-BDD3-4ABB396190FA}"/>
              </a:ext>
            </a:extLst>
          </p:cNvPr>
          <p:cNvSpPr>
            <a:spLocks xmlns:a="http://schemas.openxmlformats.org/drawingml/2006/main" noGrp="1"/>
          </p:cNvSpPr>
          <p:nvPr/>
        </p:nvSpPr>
        <p:spPr>
          <a:xfrm xmlns:a="http://schemas.openxmlformats.org/drawingml/2006/main">
            <a:off x="11049000" y="6191250"/>
            <a:ext cx="533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5F9A95"/>
                </a:solidFill>
                <a:latin typeface="Aptos"/>
                <a:ea typeface="Aptos"/>
                <a:cs typeface="Aptos"/>
              </a:defRPr>
            </a:pPr>
            <a:r>
              <a:rPr sz="1200" b="1">
                <a:solidFill>
                  <a:srgbClr val="5F9A95"/>
                </a:solidFill>
                <a:latin typeface="Aptos"/>
                <a:ea typeface="Aptos"/>
                <a:cs typeface="Aptos"/>
              </a:rPr>
              <a:t>02</a:t>
            </a:r>
          </a:p>
        </p:txBody>
      </p:sp>
      <p:sp>
        <p:nvSpPr>
          <p:cNvPr id="4" name="problem-title">
            <a:extLst xmlns:a="http://schemas.openxmlformats.org/drawingml/2006/main">
              <a:ext uri="{FF2B5EF4-FFF2-40B4-BE49-F238E27FC236}">
                <a16:creationId xmlns:a16="http://schemas.microsoft.com/office/drawing/2014/main" id="{5D833C53-A619-4E82-A17D-C8F457350919}"/>
              </a:ext>
            </a:extLst>
          </p:cNvPr>
          <p:cNvSpPr>
            <a:spLocks xmlns:a="http://schemas.openxmlformats.org/drawingml/2006/main" noGrp="1"/>
          </p:cNvSpPr>
          <p:nvPr/>
        </p:nvSpPr>
        <p:spPr>
          <a:xfrm xmlns:a="http://schemas.openxmlformats.org/drawingml/2006/main">
            <a:off x="590550" y="1000125"/>
            <a:ext cx="103822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000" b="1">
                <a:solidFill>
                  <a:srgbClr val="0B2433"/>
                </a:solidFill>
                <a:latin typeface="Georgia"/>
                <a:ea typeface="Georgia"/>
                <a:cs typeface="Georgia"/>
              </a:defRPr>
            </a:pPr>
            <a:r>
              <a:rPr sz="3000" b="1">
                <a:solidFill>
                  <a:srgbClr val="0B2433"/>
                </a:solidFill>
                <a:latin typeface="Georgia"/>
                <a:ea typeface="Georgia"/>
                <a:cs typeface="Georgia"/>
              </a:rPr>
              <a:t>The alert arrives. The household must still decide.</a:t>
            </a:r>
          </a:p>
        </p:txBody>
      </p:sp>
      <p:sp>
        <p:nvSpPr>
          <p:cNvPr id="5" name="problem-subtitle">
            <a:extLst xmlns:a="http://schemas.openxmlformats.org/drawingml/2006/main">
              <a:ext uri="{FF2B5EF4-FFF2-40B4-BE49-F238E27FC236}">
                <a16:creationId xmlns:a16="http://schemas.microsoft.com/office/drawing/2014/main" id="{89E31FF0-5787-4C48-9924-8166032904C9}"/>
              </a:ext>
            </a:extLst>
          </p:cNvPr>
          <p:cNvSpPr>
            <a:spLocks xmlns:a="http://schemas.openxmlformats.org/drawingml/2006/main" noGrp="1"/>
          </p:cNvSpPr>
          <p:nvPr/>
        </p:nvSpPr>
        <p:spPr>
          <a:xfrm xmlns:a="http://schemas.openxmlformats.org/drawingml/2006/main">
            <a:off x="590550" y="1695450"/>
            <a:ext cx="10287000" cy="4191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0">
                <a:solidFill>
                  <a:srgbClr val="143849"/>
                </a:solidFill>
                <a:latin typeface="Aptos"/>
                <a:ea typeface="Aptos"/>
                <a:cs typeface="Aptos"/>
              </a:defRPr>
            </a:pPr>
            <a:r>
              <a:rPr sz="1725" b="0">
                <a:solidFill>
                  <a:srgbClr val="143849"/>
                </a:solidFill>
                <a:latin typeface="Aptos"/>
                <a:ea typeface="Aptos"/>
                <a:cs typeface="Aptos"/>
              </a:rPr>
              <a:t>In Cedar Creek, the last mile may include an older adult, a pet, limited mobility—or no vehicle.</a:t>
            </a:r>
          </a:p>
        </p:txBody>
      </p:sp>
      <p:sp>
        <p:nvSpPr>
          <p:cNvPr id="6" name="problem-left-field">
            <a:extLst xmlns:a="http://schemas.openxmlformats.org/drawingml/2006/main">
              <a:ext uri="{FF2B5EF4-FFF2-40B4-BE49-F238E27FC236}">
                <a16:creationId xmlns:a16="http://schemas.microsoft.com/office/drawing/2014/main" id="{C9778370-E7E2-4A2F-BFD1-8645D55368B3}"/>
              </a:ext>
            </a:extLst>
          </p:cNvPr>
          <p:cNvSpPr>
            <a:spLocks xmlns:a="http://schemas.openxmlformats.org/drawingml/2006/main" noGrp="1"/>
          </p:cNvSpPr>
          <p:nvPr/>
        </p:nvSpPr>
        <p:spPr>
          <a:xfrm xmlns:a="http://schemas.openxmlformats.org/drawingml/2006/main">
            <a:off x="590550" y="2571750"/>
            <a:ext cx="4953000" cy="3000375"/>
          </a:xfrm>
          <a:prstGeom xmlns:a="http://schemas.openxmlformats.org/drawingml/2006/main" prst="roundRect">
            <a:avLst>
              <a:gd name="adj" fmla="val 7619"/>
            </a:avLst>
          </a:prstGeom>
          <a:solidFill xmlns:a="http://schemas.openxmlformats.org/drawingml/2006/main">
            <a:srgbClr val="0B2433"/>
          </a:solidFill>
          <a:ln xmlns:a="http://schemas.openxmlformats.org/drawingml/2006/main" w="0">
            <a:solidFill>
              <a:srgbClr val="000000">
                <a:alpha val="0"/>
              </a:srgbClr>
            </a:solidFill>
            <a:prstDash val="solid"/>
          </a:ln>
        </p:spPr>
      </p:sp>
      <p:sp>
        <p:nvSpPr>
          <p:cNvPr id="7" name="problem-left-label">
            <a:extLst xmlns:a="http://schemas.openxmlformats.org/drawingml/2006/main">
              <a:ext uri="{FF2B5EF4-FFF2-40B4-BE49-F238E27FC236}">
                <a16:creationId xmlns:a16="http://schemas.microsoft.com/office/drawing/2014/main" id="{2E51ED78-8A4D-4D46-933C-D0EA3A72D304}"/>
              </a:ext>
            </a:extLst>
          </p:cNvPr>
          <p:cNvSpPr>
            <a:spLocks xmlns:a="http://schemas.openxmlformats.org/drawingml/2006/main" noGrp="1"/>
          </p:cNvSpPr>
          <p:nvPr/>
        </p:nvSpPr>
        <p:spPr>
          <a:xfrm xmlns:a="http://schemas.openxmlformats.org/drawingml/2006/main">
            <a:off x="952500" y="2924175"/>
            <a:ext cx="34290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FFB0A4"/>
                </a:solidFill>
                <a:latin typeface="Aptos"/>
                <a:ea typeface="Aptos"/>
                <a:cs typeface="Aptos"/>
              </a:defRPr>
            </a:pPr>
            <a:r>
              <a:rPr sz="1200" b="1">
                <a:solidFill>
                  <a:srgbClr val="FFB0A4"/>
                </a:solidFill>
                <a:latin typeface="Aptos"/>
                <a:ea typeface="Aptos"/>
                <a:cs typeface="Aptos"/>
              </a:rPr>
              <a:t>COMMUNITY-WIDE WARNING</a:t>
            </a:r>
          </a:p>
        </p:txBody>
      </p:sp>
      <p:sp>
        <p:nvSpPr>
          <p:cNvPr id="8" name="alert-line-1">
            <a:extLst xmlns:a="http://schemas.openxmlformats.org/drawingml/2006/main">
              <a:ext uri="{FF2B5EF4-FFF2-40B4-BE49-F238E27FC236}">
                <a16:creationId xmlns:a16="http://schemas.microsoft.com/office/drawing/2014/main" id="{607D3C1F-9E3A-42B6-9952-EA3006C9A7BB}"/>
              </a:ext>
            </a:extLst>
          </p:cNvPr>
          <p:cNvSpPr>
            <a:spLocks xmlns:a="http://schemas.openxmlformats.org/drawingml/2006/main" noGrp="1"/>
          </p:cNvSpPr>
          <p:nvPr/>
        </p:nvSpPr>
        <p:spPr>
          <a:xfrm xmlns:a="http://schemas.openxmlformats.org/drawingml/2006/main">
            <a:off x="952500" y="3429000"/>
            <a:ext cx="3733800" cy="95250"/>
          </a:xfrm>
          <a:prstGeom xmlns:a="http://schemas.openxmlformats.org/drawingml/2006/main" prst="roundRect">
            <a:avLst>
              <a:gd name="adj" fmla="val 50000"/>
            </a:avLst>
          </a:prstGeom>
          <a:solidFill xmlns:a="http://schemas.openxmlformats.org/drawingml/2006/main">
            <a:srgbClr val="F26A5A"/>
          </a:solidFill>
          <a:ln xmlns:a="http://schemas.openxmlformats.org/drawingml/2006/main" w="0">
            <a:solidFill>
              <a:srgbClr val="000000">
                <a:alpha val="0"/>
              </a:srgbClr>
            </a:solidFill>
            <a:prstDash val="solid"/>
          </a:ln>
        </p:spPr>
      </p:sp>
      <p:sp>
        <p:nvSpPr>
          <p:cNvPr id="9" name="alert-line-2">
            <a:extLst xmlns:a="http://schemas.openxmlformats.org/drawingml/2006/main">
              <a:ext uri="{FF2B5EF4-FFF2-40B4-BE49-F238E27FC236}">
                <a16:creationId xmlns:a16="http://schemas.microsoft.com/office/drawing/2014/main" id="{88451709-097E-4AC4-9950-127CB1E6D6E9}"/>
              </a:ext>
            </a:extLst>
          </p:cNvPr>
          <p:cNvSpPr>
            <a:spLocks xmlns:a="http://schemas.openxmlformats.org/drawingml/2006/main" noGrp="1"/>
          </p:cNvSpPr>
          <p:nvPr/>
        </p:nvSpPr>
        <p:spPr>
          <a:xfrm xmlns:a="http://schemas.openxmlformats.org/drawingml/2006/main">
            <a:off x="952500" y="3724275"/>
            <a:ext cx="3219450" cy="95250"/>
          </a:xfrm>
          <a:prstGeom xmlns:a="http://schemas.openxmlformats.org/drawingml/2006/main" prst="roundRect">
            <a:avLst>
              <a:gd name="adj" fmla="val 50000"/>
            </a:avLst>
          </a:prstGeom>
          <a:solidFill xmlns:a="http://schemas.openxmlformats.org/drawingml/2006/main">
            <a:srgbClr val="BCD4D6"/>
          </a:solidFill>
          <a:ln xmlns:a="http://schemas.openxmlformats.org/drawingml/2006/main" w="0">
            <a:solidFill>
              <a:srgbClr val="000000">
                <a:alpha val="0"/>
              </a:srgbClr>
            </a:solidFill>
            <a:prstDash val="solid"/>
          </a:ln>
        </p:spPr>
      </p:sp>
      <p:sp>
        <p:nvSpPr>
          <p:cNvPr id="10" name="alert-line-3">
            <a:extLst xmlns:a="http://schemas.openxmlformats.org/drawingml/2006/main">
              <a:ext uri="{FF2B5EF4-FFF2-40B4-BE49-F238E27FC236}">
                <a16:creationId xmlns:a16="http://schemas.microsoft.com/office/drawing/2014/main" id="{15AE53C6-FE5A-4988-9EB2-F2C442770FDC}"/>
              </a:ext>
            </a:extLst>
          </p:cNvPr>
          <p:cNvSpPr>
            <a:spLocks xmlns:a="http://schemas.openxmlformats.org/drawingml/2006/main" noGrp="1"/>
          </p:cNvSpPr>
          <p:nvPr/>
        </p:nvSpPr>
        <p:spPr>
          <a:xfrm xmlns:a="http://schemas.openxmlformats.org/drawingml/2006/main">
            <a:off x="952500" y="4019550"/>
            <a:ext cx="4000500" cy="95250"/>
          </a:xfrm>
          <a:prstGeom xmlns:a="http://schemas.openxmlformats.org/drawingml/2006/main" prst="roundRect">
            <a:avLst>
              <a:gd name="adj" fmla="val 50000"/>
            </a:avLst>
          </a:prstGeom>
          <a:solidFill xmlns:a="http://schemas.openxmlformats.org/drawingml/2006/main">
            <a:srgbClr val="BCD4D6"/>
          </a:solidFill>
          <a:ln xmlns:a="http://schemas.openxmlformats.org/drawingml/2006/main" w="0">
            <a:solidFill>
              <a:srgbClr val="000000">
                <a:alpha val="0"/>
              </a:srgbClr>
            </a:solidFill>
            <a:prstDash val="solid"/>
          </a:ln>
        </p:spPr>
      </p:sp>
      <p:sp>
        <p:nvSpPr>
          <p:cNvPr id="11" name="alert-line-4">
            <a:extLst xmlns:a="http://schemas.openxmlformats.org/drawingml/2006/main">
              <a:ext uri="{FF2B5EF4-FFF2-40B4-BE49-F238E27FC236}">
                <a16:creationId xmlns:a16="http://schemas.microsoft.com/office/drawing/2014/main" id="{A929295E-1AE8-4D5C-9CAF-FC77FF1D655D}"/>
              </a:ext>
            </a:extLst>
          </p:cNvPr>
          <p:cNvSpPr>
            <a:spLocks xmlns:a="http://schemas.openxmlformats.org/drawingml/2006/main" noGrp="1"/>
          </p:cNvSpPr>
          <p:nvPr/>
        </p:nvSpPr>
        <p:spPr>
          <a:xfrm xmlns:a="http://schemas.openxmlformats.org/drawingml/2006/main">
            <a:off x="952500" y="4314825"/>
            <a:ext cx="2800350" cy="95250"/>
          </a:xfrm>
          <a:prstGeom xmlns:a="http://schemas.openxmlformats.org/drawingml/2006/main" prst="roundRect">
            <a:avLst>
              <a:gd name="adj" fmla="val 50000"/>
            </a:avLst>
          </a:prstGeom>
          <a:solidFill xmlns:a="http://schemas.openxmlformats.org/drawingml/2006/main">
            <a:srgbClr val="BCD4D6"/>
          </a:solidFill>
          <a:ln xmlns:a="http://schemas.openxmlformats.org/drawingml/2006/main" w="0">
            <a:solidFill>
              <a:srgbClr val="000000">
                <a:alpha val="0"/>
              </a:srgbClr>
            </a:solidFill>
            <a:prstDash val="solid"/>
          </a:ln>
        </p:spPr>
      </p:sp>
      <p:sp>
        <p:nvSpPr>
          <p:cNvPr id="12" name="alert-line-5">
            <a:extLst xmlns:a="http://schemas.openxmlformats.org/drawingml/2006/main">
              <a:ext uri="{FF2B5EF4-FFF2-40B4-BE49-F238E27FC236}">
                <a16:creationId xmlns:a16="http://schemas.microsoft.com/office/drawing/2014/main" id="{2EADA0DB-25B8-4D17-A19F-7662F08F91AB}"/>
              </a:ext>
            </a:extLst>
          </p:cNvPr>
          <p:cNvSpPr>
            <a:spLocks xmlns:a="http://schemas.openxmlformats.org/drawingml/2006/main" noGrp="1"/>
          </p:cNvSpPr>
          <p:nvPr/>
        </p:nvSpPr>
        <p:spPr>
          <a:xfrm xmlns:a="http://schemas.openxmlformats.org/drawingml/2006/main">
            <a:off x="952500" y="4610100"/>
            <a:ext cx="3448050" cy="95250"/>
          </a:xfrm>
          <a:prstGeom xmlns:a="http://schemas.openxmlformats.org/drawingml/2006/main" prst="roundRect">
            <a:avLst>
              <a:gd name="adj" fmla="val 50000"/>
            </a:avLst>
          </a:prstGeom>
          <a:solidFill xmlns:a="http://schemas.openxmlformats.org/drawingml/2006/main">
            <a:srgbClr val="BCD4D6"/>
          </a:solidFill>
          <a:ln xmlns:a="http://schemas.openxmlformats.org/drawingml/2006/main" w="0">
            <a:solidFill>
              <a:srgbClr val="000000">
                <a:alpha val="0"/>
              </a:srgbClr>
            </a:solidFill>
            <a:prstDash val="solid"/>
          </a:ln>
        </p:spPr>
      </p:sp>
      <p:sp>
        <p:nvSpPr>
          <p:cNvPr id="13" name="alert-line-6">
            <a:extLst xmlns:a="http://schemas.openxmlformats.org/drawingml/2006/main">
              <a:ext uri="{FF2B5EF4-FFF2-40B4-BE49-F238E27FC236}">
                <a16:creationId xmlns:a16="http://schemas.microsoft.com/office/drawing/2014/main" id="{1B4DE041-6D35-4438-9442-DA9FB8946AC9}"/>
              </a:ext>
            </a:extLst>
          </p:cNvPr>
          <p:cNvSpPr>
            <a:spLocks xmlns:a="http://schemas.openxmlformats.org/drawingml/2006/main" noGrp="1"/>
          </p:cNvSpPr>
          <p:nvPr/>
        </p:nvSpPr>
        <p:spPr>
          <a:xfrm xmlns:a="http://schemas.openxmlformats.org/drawingml/2006/main">
            <a:off x="952500" y="4905375"/>
            <a:ext cx="2362200" cy="95250"/>
          </a:xfrm>
          <a:prstGeom xmlns:a="http://schemas.openxmlformats.org/drawingml/2006/main" prst="roundRect">
            <a:avLst>
              <a:gd name="adj" fmla="val 50000"/>
            </a:avLst>
          </a:prstGeom>
          <a:solidFill xmlns:a="http://schemas.openxmlformats.org/drawingml/2006/main">
            <a:srgbClr val="BCD4D6"/>
          </a:solidFill>
          <a:ln xmlns:a="http://schemas.openxmlformats.org/drawingml/2006/main" w="0">
            <a:solidFill>
              <a:srgbClr val="000000">
                <a:alpha val="0"/>
              </a:srgbClr>
            </a:solidFill>
            <a:prstDash val="solid"/>
          </a:ln>
        </p:spPr>
      </p:sp>
      <p:sp>
        <p:nvSpPr>
          <p:cNvPr id="14" name="problem-left-caption">
            <a:extLst xmlns:a="http://schemas.openxmlformats.org/drawingml/2006/main">
              <a:ext uri="{FF2B5EF4-FFF2-40B4-BE49-F238E27FC236}">
                <a16:creationId xmlns:a16="http://schemas.microsoft.com/office/drawing/2014/main" id="{58F497B1-A981-4BB0-8834-1C05A39CBEF7}"/>
              </a:ext>
            </a:extLst>
          </p:cNvPr>
          <p:cNvSpPr>
            <a:spLocks xmlns:a="http://schemas.openxmlformats.org/drawingml/2006/main" noGrp="1"/>
          </p:cNvSpPr>
          <p:nvPr/>
        </p:nvSpPr>
        <p:spPr>
          <a:xfrm xmlns:a="http://schemas.openxmlformats.org/drawingml/2006/main">
            <a:off x="952500" y="5219700"/>
            <a:ext cx="39052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5EBDD"/>
                </a:solidFill>
                <a:latin typeface="Aptos"/>
                <a:ea typeface="Aptos"/>
                <a:cs typeface="Aptos"/>
              </a:defRPr>
            </a:pPr>
            <a:r>
              <a:rPr sz="1350" b="0">
                <a:solidFill>
                  <a:srgbClr val="F5EBDD"/>
                </a:solidFill>
                <a:latin typeface="Aptos"/>
                <a:ea typeface="Aptos"/>
                <a:cs typeface="Aptos"/>
              </a:rPr>
              <a:t>The official alert must cover the whole community.</a:t>
            </a:r>
          </a:p>
        </p:txBody>
      </p:sp>
      <p:sp>
        <p:nvSpPr>
          <p:cNvPr id="15" name="problem-gap">
            <a:extLst xmlns:a="http://schemas.openxmlformats.org/drawingml/2006/main">
              <a:ext uri="{FF2B5EF4-FFF2-40B4-BE49-F238E27FC236}">
                <a16:creationId xmlns:a16="http://schemas.microsoft.com/office/drawing/2014/main" id="{852A5DB4-9FB1-4035-B808-F3DFFA9B2C98}"/>
              </a:ext>
            </a:extLst>
          </p:cNvPr>
          <p:cNvSpPr>
            <a:spLocks xmlns:a="http://schemas.openxmlformats.org/drawingml/2006/main" noGrp="1"/>
          </p:cNvSpPr>
          <p:nvPr/>
        </p:nvSpPr>
        <p:spPr>
          <a:xfrm xmlns:a="http://schemas.openxmlformats.org/drawingml/2006/main">
            <a:off x="5867400" y="2571750"/>
            <a:ext cx="66675" cy="3000375"/>
          </a:xfrm>
          <a:prstGeom xmlns:a="http://schemas.openxmlformats.org/drawingml/2006/main" prst="rect">
            <a:avLst/>
          </a:prstGeom>
          <a:solidFill xmlns:a="http://schemas.openxmlformats.org/drawingml/2006/main">
            <a:srgbClr val="F26A5A"/>
          </a:solidFill>
          <a:ln xmlns:a="http://schemas.openxmlformats.org/drawingml/2006/main" w="0">
            <a:solidFill>
              <a:srgbClr val="000000">
                <a:alpha val="0"/>
              </a:srgbClr>
            </a:solidFill>
            <a:prstDash val="solid"/>
          </a:ln>
        </p:spPr>
      </p:sp>
      <p:sp>
        <p:nvSpPr>
          <p:cNvPr id="16" name="problem-question">
            <a:extLst xmlns:a="http://schemas.openxmlformats.org/drawingml/2006/main">
              <a:ext uri="{FF2B5EF4-FFF2-40B4-BE49-F238E27FC236}">
                <a16:creationId xmlns:a16="http://schemas.microsoft.com/office/drawing/2014/main" id="{03D167AB-C4FD-448F-95E8-84DE1E8770E7}"/>
              </a:ext>
            </a:extLst>
          </p:cNvPr>
          <p:cNvSpPr>
            <a:spLocks xmlns:a="http://schemas.openxmlformats.org/drawingml/2006/main" noGrp="1"/>
          </p:cNvSpPr>
          <p:nvPr/>
        </p:nvSpPr>
        <p:spPr>
          <a:xfrm xmlns:a="http://schemas.openxmlformats.org/drawingml/2006/main">
            <a:off x="6419850" y="2647950"/>
            <a:ext cx="4572000" cy="438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400" b="1">
                <a:solidFill>
                  <a:srgbClr val="F26A5A"/>
                </a:solidFill>
                <a:latin typeface="Georgia"/>
                <a:ea typeface="Georgia"/>
                <a:cs typeface="Georgia"/>
              </a:defRPr>
            </a:pPr>
            <a:r>
              <a:rPr sz="2400" b="1">
                <a:solidFill>
                  <a:srgbClr val="F26A5A"/>
                </a:solidFill>
                <a:latin typeface="Georgia"/>
                <a:ea typeface="Georgia"/>
                <a:cs typeface="Georgia"/>
              </a:rPr>
              <a:t>But what do we do next?</a:t>
            </a:r>
          </a:p>
        </p:txBody>
      </p:sp>
      <p:sp>
        <p:nvSpPr>
          <p:cNvPr id="17" name="problem-num-01">
            <a:extLst xmlns:a="http://schemas.openxmlformats.org/drawingml/2006/main">
              <a:ext uri="{FF2B5EF4-FFF2-40B4-BE49-F238E27FC236}">
                <a16:creationId xmlns:a16="http://schemas.microsoft.com/office/drawing/2014/main" id="{7A22D5A2-7839-4EA6-91B6-8D8882D21706}"/>
              </a:ext>
            </a:extLst>
          </p:cNvPr>
          <p:cNvSpPr>
            <a:spLocks xmlns:a="http://schemas.openxmlformats.org/drawingml/2006/main" noGrp="1"/>
          </p:cNvSpPr>
          <p:nvPr/>
        </p:nvSpPr>
        <p:spPr>
          <a:xfrm xmlns:a="http://schemas.openxmlformats.org/drawingml/2006/main">
            <a:off x="6419850" y="339090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5F9A95"/>
                </a:solidFill>
                <a:latin typeface="Aptos"/>
                <a:ea typeface="Aptos"/>
                <a:cs typeface="Aptos"/>
              </a:defRPr>
            </a:pPr>
            <a:r>
              <a:rPr sz="1350" b="1">
                <a:solidFill>
                  <a:srgbClr val="5F9A95"/>
                </a:solidFill>
                <a:latin typeface="Aptos"/>
                <a:ea typeface="Aptos"/>
                <a:cs typeface="Aptos"/>
              </a:rPr>
              <a:t>01</a:t>
            </a:r>
          </a:p>
        </p:txBody>
      </p:sp>
      <p:sp>
        <p:nvSpPr>
          <p:cNvPr id="18" name="problem-q-01">
            <a:extLst xmlns:a="http://schemas.openxmlformats.org/drawingml/2006/main">
              <a:ext uri="{FF2B5EF4-FFF2-40B4-BE49-F238E27FC236}">
                <a16:creationId xmlns:a16="http://schemas.microsoft.com/office/drawing/2014/main" id="{1E751F03-B378-4DBF-99FB-254D881487F2}"/>
              </a:ext>
            </a:extLst>
          </p:cNvPr>
          <p:cNvSpPr>
            <a:spLocks xmlns:a="http://schemas.openxmlformats.org/drawingml/2006/main" noGrp="1"/>
          </p:cNvSpPr>
          <p:nvPr/>
        </p:nvSpPr>
        <p:spPr>
          <a:xfrm xmlns:a="http://schemas.openxmlformats.org/drawingml/2006/main">
            <a:off x="6991350" y="3362325"/>
            <a:ext cx="40957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0B2433"/>
                </a:solidFill>
                <a:latin typeface="Aptos"/>
                <a:ea typeface="Aptos"/>
                <a:cs typeface="Aptos"/>
              </a:defRPr>
            </a:pPr>
            <a:r>
              <a:rPr sz="1800" b="1">
                <a:solidFill>
                  <a:srgbClr val="0B2433"/>
                </a:solidFill>
                <a:latin typeface="Aptos"/>
                <a:ea typeface="Aptos"/>
                <a:cs typeface="Aptos"/>
              </a:rPr>
              <a:t>Who needs help first?</a:t>
            </a:r>
          </a:p>
        </p:txBody>
      </p:sp>
      <p:sp>
        <p:nvSpPr>
          <p:cNvPr id="19" name="problem-num-02">
            <a:extLst xmlns:a="http://schemas.openxmlformats.org/drawingml/2006/main">
              <a:ext uri="{FF2B5EF4-FFF2-40B4-BE49-F238E27FC236}">
                <a16:creationId xmlns:a16="http://schemas.microsoft.com/office/drawing/2014/main" id="{5B6D63B3-B5A3-4B5B-9CE5-6A78561DCB1F}"/>
              </a:ext>
            </a:extLst>
          </p:cNvPr>
          <p:cNvSpPr>
            <a:spLocks xmlns:a="http://schemas.openxmlformats.org/drawingml/2006/main" noGrp="1"/>
          </p:cNvSpPr>
          <p:nvPr/>
        </p:nvSpPr>
        <p:spPr>
          <a:xfrm xmlns:a="http://schemas.openxmlformats.org/drawingml/2006/main">
            <a:off x="6419850" y="411480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5F9A95"/>
                </a:solidFill>
                <a:latin typeface="Aptos"/>
                <a:ea typeface="Aptos"/>
                <a:cs typeface="Aptos"/>
              </a:defRPr>
            </a:pPr>
            <a:r>
              <a:rPr sz="1350" b="1">
                <a:solidFill>
                  <a:srgbClr val="5F9A95"/>
                </a:solidFill>
                <a:latin typeface="Aptos"/>
                <a:ea typeface="Aptos"/>
                <a:cs typeface="Aptos"/>
              </a:rPr>
              <a:t>02</a:t>
            </a:r>
          </a:p>
        </p:txBody>
      </p:sp>
      <p:sp>
        <p:nvSpPr>
          <p:cNvPr id="20" name="problem-q-02">
            <a:extLst xmlns:a="http://schemas.openxmlformats.org/drawingml/2006/main">
              <a:ext uri="{FF2B5EF4-FFF2-40B4-BE49-F238E27FC236}">
                <a16:creationId xmlns:a16="http://schemas.microsoft.com/office/drawing/2014/main" id="{88CE995C-54A2-4B52-A178-CA6B72D59B90}"/>
              </a:ext>
            </a:extLst>
          </p:cNvPr>
          <p:cNvSpPr>
            <a:spLocks xmlns:a="http://schemas.openxmlformats.org/drawingml/2006/main" noGrp="1"/>
          </p:cNvSpPr>
          <p:nvPr/>
        </p:nvSpPr>
        <p:spPr>
          <a:xfrm xmlns:a="http://schemas.openxmlformats.org/drawingml/2006/main">
            <a:off x="6991350" y="4086225"/>
            <a:ext cx="40957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0B2433"/>
                </a:solidFill>
                <a:latin typeface="Aptos"/>
                <a:ea typeface="Aptos"/>
                <a:cs typeface="Aptos"/>
              </a:defRPr>
            </a:pPr>
            <a:r>
              <a:rPr sz="1800" b="1">
                <a:solidFill>
                  <a:srgbClr val="0B2433"/>
                </a:solidFill>
                <a:latin typeface="Aptos"/>
                <a:ea typeface="Aptos"/>
                <a:cs typeface="Aptos"/>
              </a:rPr>
              <a:t>What should be staged now?</a:t>
            </a:r>
          </a:p>
        </p:txBody>
      </p:sp>
      <p:sp>
        <p:nvSpPr>
          <p:cNvPr id="21" name="problem-num-03">
            <a:extLst xmlns:a="http://schemas.openxmlformats.org/drawingml/2006/main">
              <a:ext uri="{FF2B5EF4-FFF2-40B4-BE49-F238E27FC236}">
                <a16:creationId xmlns:a16="http://schemas.microsoft.com/office/drawing/2014/main" id="{74C1C13A-5AAC-4E99-A185-3A46BEEDD36A}"/>
              </a:ext>
            </a:extLst>
          </p:cNvPr>
          <p:cNvSpPr>
            <a:spLocks xmlns:a="http://schemas.openxmlformats.org/drawingml/2006/main" noGrp="1"/>
          </p:cNvSpPr>
          <p:nvPr/>
        </p:nvSpPr>
        <p:spPr>
          <a:xfrm xmlns:a="http://schemas.openxmlformats.org/drawingml/2006/main">
            <a:off x="6419850" y="4838700"/>
            <a:ext cx="43815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5F9A95"/>
                </a:solidFill>
                <a:latin typeface="Aptos"/>
                <a:ea typeface="Aptos"/>
                <a:cs typeface="Aptos"/>
              </a:defRPr>
            </a:pPr>
            <a:r>
              <a:rPr sz="1350" b="1">
                <a:solidFill>
                  <a:srgbClr val="5F9A95"/>
                </a:solidFill>
                <a:latin typeface="Aptos"/>
                <a:ea typeface="Aptos"/>
                <a:cs typeface="Aptos"/>
              </a:rPr>
              <a:t>03</a:t>
            </a:r>
          </a:p>
        </p:txBody>
      </p:sp>
      <p:sp>
        <p:nvSpPr>
          <p:cNvPr id="22" name="problem-q-03">
            <a:extLst xmlns:a="http://schemas.openxmlformats.org/drawingml/2006/main">
              <a:ext uri="{FF2B5EF4-FFF2-40B4-BE49-F238E27FC236}">
                <a16:creationId xmlns:a16="http://schemas.microsoft.com/office/drawing/2014/main" id="{FCFB3E88-B091-4A1F-A8D5-EC13687D251E}"/>
              </a:ext>
            </a:extLst>
          </p:cNvPr>
          <p:cNvSpPr>
            <a:spLocks xmlns:a="http://schemas.openxmlformats.org/drawingml/2006/main" noGrp="1"/>
          </p:cNvSpPr>
          <p:nvPr/>
        </p:nvSpPr>
        <p:spPr>
          <a:xfrm xmlns:a="http://schemas.openxmlformats.org/drawingml/2006/main">
            <a:off x="6991350" y="4810125"/>
            <a:ext cx="4095750" cy="5334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00" b="1">
                <a:solidFill>
                  <a:srgbClr val="0B2433"/>
                </a:solidFill>
                <a:latin typeface="Aptos"/>
                <a:ea typeface="Aptos"/>
                <a:cs typeface="Aptos"/>
              </a:defRPr>
            </a:pPr>
            <a:r>
              <a:rPr sz="1800" b="1">
                <a:solidFill>
                  <a:srgbClr val="0B2433"/>
                </a:solidFill>
                <a:latin typeface="Aptos"/>
                <a:ea typeface="Aptos"/>
                <a:cs typeface="Aptos"/>
              </a:rPr>
              <a:t>When should we stop planning and follow officials?</a:t>
            </a:r>
          </a:p>
        </p:txBody>
      </p:sp>
    </p:spTree>
    <p:extLst>
      <p:ext uri="{BB962C8B-B14F-4D97-AF65-F5344CB8AC3E}">
        <p14:creationId xmlns:p14="http://schemas.microsoft.com/office/powerpoint/2010/main" val="1857352127"/>
      </p:ext>
    </p:extLst>
  </p:cSld>
</p:sld>
</file>

<file path=ppt/slides/slide3.xml><?xml version="1.0" encoding="utf-8"?>
<p:sld xmlns:p="http://schemas.openxmlformats.org/presentationml/2006/main">
  <p:cSld>
    <p:bg>
      <p:bgPr>
        <a:solidFill xmlns:a="http://schemas.openxmlformats.org/drawingml/2006/main">
          <a:srgbClr val="FFF9F0"/>
        </a:solidFill>
      </p:bgPr>
    </p:bg>
    <p:spTree>
      <p:nvGrpSpPr>
        <p:cNvPr id="1" name=""/>
        <p:cNvGrpSpPr/>
        <p:nvPr/>
      </p:nvGrpSpPr>
      <p:grpSpPr>
        <a:xfrm xmlns:a="http://schemas.openxmlformats.org/drawingml/2006/main"/>
      </p:grpSpPr>
      <p:sp>
        <p:nvSpPr>
          <p:cNvPr id="39" name="brand-3">
            <a:extLst xmlns:a="http://schemas.openxmlformats.org/drawingml/2006/main">
              <a:ext uri="{FF2B5EF4-FFF2-40B4-BE49-F238E27FC236}">
                <a16:creationId xmlns:a16="http://schemas.microsoft.com/office/drawing/2014/main" id="{EFE2D164-6DCD-4410-B227-E44337B10620}"/>
              </a:ext>
            </a:extLst>
          </p:cNvPr>
          <p:cNvSpPr>
            <a:spLocks xmlns:a="http://schemas.openxmlformats.org/drawingml/2006/main" noGrp="1"/>
          </p:cNvSpPr>
          <p:nvPr/>
        </p:nvSpPr>
        <p:spPr>
          <a:xfrm xmlns:a="http://schemas.openxmlformats.org/drawingml/2006/main">
            <a:off x="590550" y="40005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0B2433"/>
                </a:solidFill>
                <a:latin typeface="Aptos"/>
                <a:ea typeface="Aptos"/>
                <a:cs typeface="Aptos"/>
              </a:defRPr>
            </a:pPr>
            <a:r>
              <a:rPr sz="1200" b="1">
                <a:solidFill>
                  <a:srgbClr val="0B2433"/>
                </a:solidFill>
                <a:latin typeface="Aptos"/>
                <a:ea typeface="Aptos"/>
                <a:cs typeface="Aptos"/>
              </a:rPr>
              <a:t>CREEKREADY</a:t>
            </a:r>
          </a:p>
        </p:txBody>
      </p:sp>
      <p:sp>
        <p:nvSpPr>
          <p:cNvPr id="2" name="brand-rule-3">
            <a:extLst xmlns:a="http://schemas.openxmlformats.org/drawingml/2006/main">
              <a:ext uri="{FF2B5EF4-FFF2-40B4-BE49-F238E27FC236}">
                <a16:creationId xmlns:a16="http://schemas.microsoft.com/office/drawing/2014/main" id="{926C3705-4A9B-4286-BE22-7C190A3947D6}"/>
              </a:ext>
            </a:extLst>
          </p:cNvPr>
          <p:cNvSpPr>
            <a:spLocks xmlns:a="http://schemas.openxmlformats.org/drawingml/2006/main" noGrp="1"/>
          </p:cNvSpPr>
          <p:nvPr/>
        </p:nvSpPr>
        <p:spPr>
          <a:xfrm xmlns:a="http://schemas.openxmlformats.org/drawingml/2006/main">
            <a:off x="590550" y="704850"/>
            <a:ext cx="685800" cy="47625"/>
          </a:xfrm>
          <a:prstGeom xmlns:a="http://schemas.openxmlformats.org/drawingml/2006/main" prst="rect">
            <a:avLst/>
          </a:prstGeom>
          <a:solidFill xmlns:a="http://schemas.openxmlformats.org/drawingml/2006/main">
            <a:srgbClr val="F26A5A"/>
          </a:solidFill>
          <a:ln xmlns:a="http://schemas.openxmlformats.org/drawingml/2006/main" w="0">
            <a:solidFill>
              <a:srgbClr val="000000">
                <a:alpha val="0"/>
              </a:srgbClr>
            </a:solidFill>
            <a:prstDash val="solid"/>
          </a:ln>
        </p:spPr>
      </p:sp>
      <p:sp>
        <p:nvSpPr>
          <p:cNvPr id="3" name="page-3">
            <a:extLst xmlns:a="http://schemas.openxmlformats.org/drawingml/2006/main">
              <a:ext uri="{FF2B5EF4-FFF2-40B4-BE49-F238E27FC236}">
                <a16:creationId xmlns:a16="http://schemas.microsoft.com/office/drawing/2014/main" id="{D36A714A-876F-43F6-9B4B-D5F91530FB42}"/>
              </a:ext>
            </a:extLst>
          </p:cNvPr>
          <p:cNvSpPr>
            <a:spLocks xmlns:a="http://schemas.openxmlformats.org/drawingml/2006/main" noGrp="1"/>
          </p:cNvSpPr>
          <p:nvPr/>
        </p:nvSpPr>
        <p:spPr>
          <a:xfrm xmlns:a="http://schemas.openxmlformats.org/drawingml/2006/main">
            <a:off x="11049000" y="6191250"/>
            <a:ext cx="533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5F9A95"/>
                </a:solidFill>
                <a:latin typeface="Aptos"/>
                <a:ea typeface="Aptos"/>
                <a:cs typeface="Aptos"/>
              </a:defRPr>
            </a:pPr>
            <a:r>
              <a:rPr sz="1200" b="1">
                <a:solidFill>
                  <a:srgbClr val="5F9A95"/>
                </a:solidFill>
                <a:latin typeface="Aptos"/>
                <a:ea typeface="Aptos"/>
                <a:cs typeface="Aptos"/>
              </a:rPr>
              <a:t>03</a:t>
            </a:r>
          </a:p>
        </p:txBody>
      </p:sp>
      <p:sp>
        <p:nvSpPr>
          <p:cNvPr id="4" name="workflow-title">
            <a:extLst xmlns:a="http://schemas.openxmlformats.org/drawingml/2006/main">
              <a:ext uri="{FF2B5EF4-FFF2-40B4-BE49-F238E27FC236}">
                <a16:creationId xmlns:a16="http://schemas.microsoft.com/office/drawing/2014/main" id="{F57986E2-6C23-46A2-ADC7-3E76B3E3C05A}"/>
              </a:ext>
            </a:extLst>
          </p:cNvPr>
          <p:cNvSpPr>
            <a:spLocks xmlns:a="http://schemas.openxmlformats.org/drawingml/2006/main" noGrp="1"/>
          </p:cNvSpPr>
          <p:nvPr/>
        </p:nvSpPr>
        <p:spPr>
          <a:xfrm xmlns:a="http://schemas.openxmlformats.org/drawingml/2006/main">
            <a:off x="590550" y="990600"/>
            <a:ext cx="1028700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000" b="1">
                <a:solidFill>
                  <a:srgbClr val="0B2433"/>
                </a:solidFill>
                <a:latin typeface="Georgia"/>
                <a:ea typeface="Georgia"/>
                <a:cs typeface="Georgia"/>
              </a:defRPr>
            </a:pPr>
            <a:r>
              <a:rPr sz="3000" b="1">
                <a:solidFill>
                  <a:srgbClr val="0B2433"/>
                </a:solidFill>
                <a:latin typeface="Georgia"/>
                <a:ea typeface="Georgia"/>
                <a:cs typeface="Georgia"/>
              </a:rPr>
              <a:t>One alert becomes a plan the household can scan.</a:t>
            </a:r>
          </a:p>
        </p:txBody>
      </p:sp>
      <p:sp>
        <p:nvSpPr>
          <p:cNvPr id="5" name="workflow-subtitle">
            <a:extLst xmlns:a="http://schemas.openxmlformats.org/drawingml/2006/main">
              <a:ext uri="{FF2B5EF4-FFF2-40B4-BE49-F238E27FC236}">
                <a16:creationId xmlns:a16="http://schemas.microsoft.com/office/drawing/2014/main" id="{4F3BCB84-7CBD-4109-AFCD-3FB520569488}"/>
              </a:ext>
            </a:extLst>
          </p:cNvPr>
          <p:cNvSpPr>
            <a:spLocks xmlns:a="http://schemas.openxmlformats.org/drawingml/2006/main" noGrp="1"/>
          </p:cNvSpPr>
          <p:nvPr/>
        </p:nvSpPr>
        <p:spPr>
          <a:xfrm xmlns:a="http://schemas.openxmlformats.org/drawingml/2006/main">
            <a:off x="590550" y="1676400"/>
            <a:ext cx="102870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0">
                <a:solidFill>
                  <a:srgbClr val="143849"/>
                </a:solidFill>
                <a:latin typeface="Aptos"/>
                <a:ea typeface="Aptos"/>
                <a:cs typeface="Aptos"/>
              </a:defRPr>
            </a:pPr>
            <a:r>
              <a:rPr sz="1725" b="0">
                <a:solidFill>
                  <a:srgbClr val="143849"/>
                </a:solidFill>
                <a:latin typeface="Aptos"/>
                <a:ea typeface="Aptos"/>
                <a:cs typeface="Aptos"/>
              </a:rPr>
              <a:t>Pasted alert + household constraints → trusted facts + staged actions</a:t>
            </a:r>
          </a:p>
        </p:txBody>
      </p:sp>
      <p:sp>
        <p:nvSpPr>
          <p:cNvPr id="6" name="flow-arrow-input-facts">
            <a:extLst xmlns:a="http://schemas.openxmlformats.org/drawingml/2006/main">
              <a:ext uri="{FF2B5EF4-FFF2-40B4-BE49-F238E27FC236}">
                <a16:creationId xmlns:a16="http://schemas.microsoft.com/office/drawing/2014/main" id="{60F2E9B4-B4CE-4F65-B237-720A1FF0DFDE}"/>
              </a:ext>
            </a:extLst>
          </p:cNvPr>
          <p:cNvSpPr>
            <a:spLocks xmlns:a="http://schemas.openxmlformats.org/drawingml/2006/main" noGrp="1"/>
          </p:cNvSpPr>
          <p:nvPr/>
        </p:nvSpPr>
        <p:spPr>
          <a:xfrm xmlns:a="http://schemas.openxmlformats.org/drawingml/2006/main">
            <a:off x="3381375" y="3600450"/>
            <a:ext cx="1000125" cy="438150"/>
          </a:xfrm>
          <a:prstGeom xmlns:a="http://schemas.openxmlformats.org/drawingml/2006/main" prst="rightArrow">
            <a:avLst/>
          </a:prstGeom>
          <a:solidFill xmlns:a="http://schemas.openxmlformats.org/drawingml/2006/main">
            <a:srgbClr val="F26A5A"/>
          </a:solidFill>
          <a:ln xmlns:a="http://schemas.openxmlformats.org/drawingml/2006/main" w="0">
            <a:solidFill>
              <a:srgbClr val="000000">
                <a:alpha val="0"/>
              </a:srgbClr>
            </a:solidFill>
            <a:prstDash val="solid"/>
          </a:ln>
        </p:spPr>
      </p:sp>
      <p:sp>
        <p:nvSpPr>
          <p:cNvPr id="7" name="flow-arrow-facts-plan">
            <a:extLst xmlns:a="http://schemas.openxmlformats.org/drawingml/2006/main">
              <a:ext uri="{FF2B5EF4-FFF2-40B4-BE49-F238E27FC236}">
                <a16:creationId xmlns:a16="http://schemas.microsoft.com/office/drawing/2014/main" id="{A1A5AC8D-30EC-4505-B091-34F8B38A5016}"/>
              </a:ext>
            </a:extLst>
          </p:cNvPr>
          <p:cNvSpPr>
            <a:spLocks xmlns:a="http://schemas.openxmlformats.org/drawingml/2006/main" noGrp="1"/>
          </p:cNvSpPr>
          <p:nvPr/>
        </p:nvSpPr>
        <p:spPr>
          <a:xfrm xmlns:a="http://schemas.openxmlformats.org/drawingml/2006/main">
            <a:off x="7629525" y="3600450"/>
            <a:ext cx="1000125" cy="438150"/>
          </a:xfrm>
          <a:prstGeom xmlns:a="http://schemas.openxmlformats.org/drawingml/2006/main" prst="rightArrow">
            <a:avLst/>
          </a:prstGeom>
          <a:solidFill xmlns:a="http://schemas.openxmlformats.org/drawingml/2006/main">
            <a:srgbClr val="5F9A95"/>
          </a:solidFill>
          <a:ln xmlns:a="http://schemas.openxmlformats.org/drawingml/2006/main" w="0">
            <a:solidFill>
              <a:srgbClr val="000000">
                <a:alpha val="0"/>
              </a:srgbClr>
            </a:solidFill>
            <a:prstDash val="solid"/>
          </a:ln>
        </p:spPr>
      </p:sp>
      <p:sp>
        <p:nvSpPr>
          <p:cNvPr id="8" name="input-frame">
            <a:extLst xmlns:a="http://schemas.openxmlformats.org/drawingml/2006/main">
              <a:ext uri="{FF2B5EF4-FFF2-40B4-BE49-F238E27FC236}">
                <a16:creationId xmlns:a16="http://schemas.microsoft.com/office/drawing/2014/main" id="{63C340F8-57A3-4F85-9240-140A3DBB1916}"/>
              </a:ext>
            </a:extLst>
          </p:cNvPr>
          <p:cNvSpPr>
            <a:spLocks xmlns:a="http://schemas.openxmlformats.org/drawingml/2006/main" noGrp="1"/>
          </p:cNvSpPr>
          <p:nvPr/>
        </p:nvSpPr>
        <p:spPr>
          <a:xfrm xmlns:a="http://schemas.openxmlformats.org/drawingml/2006/main">
            <a:off x="590550" y="2476500"/>
            <a:ext cx="2952750" cy="3143250"/>
          </a:xfrm>
          <a:prstGeom xmlns:a="http://schemas.openxmlformats.org/drawingml/2006/main" prst="roundRect">
            <a:avLst>
              <a:gd name="adj" fmla="val 7742"/>
            </a:avLst>
          </a:prstGeom>
          <a:solidFill xmlns:a="http://schemas.openxmlformats.org/drawingml/2006/main">
            <a:srgbClr val="0B2433"/>
          </a:solidFill>
          <a:ln xmlns:a="http://schemas.openxmlformats.org/drawingml/2006/main" w="0">
            <a:solidFill>
              <a:srgbClr val="000000">
                <a:alpha val="0"/>
              </a:srgbClr>
            </a:solidFill>
            <a:prstDash val="solid"/>
          </a:ln>
        </p:spPr>
      </p:sp>
      <p:sp>
        <p:nvSpPr>
          <p:cNvPr id="9" name="input-kicker">
            <a:extLst xmlns:a="http://schemas.openxmlformats.org/drawingml/2006/main">
              <a:ext uri="{FF2B5EF4-FFF2-40B4-BE49-F238E27FC236}">
                <a16:creationId xmlns:a16="http://schemas.microsoft.com/office/drawing/2014/main" id="{BD54254E-947F-425C-AA55-D48F51C4D951}"/>
              </a:ext>
            </a:extLst>
          </p:cNvPr>
          <p:cNvSpPr>
            <a:spLocks xmlns:a="http://schemas.openxmlformats.org/drawingml/2006/main" noGrp="1"/>
          </p:cNvSpPr>
          <p:nvPr/>
        </p:nvSpPr>
        <p:spPr>
          <a:xfrm xmlns:a="http://schemas.openxmlformats.org/drawingml/2006/main">
            <a:off x="895350" y="2762250"/>
            <a:ext cx="857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FFB0A4"/>
                </a:solidFill>
                <a:latin typeface="Aptos"/>
                <a:ea typeface="Aptos"/>
                <a:cs typeface="Aptos"/>
              </a:defRPr>
            </a:pPr>
            <a:r>
              <a:rPr sz="1200" b="1">
                <a:solidFill>
                  <a:srgbClr val="FFB0A4"/>
                </a:solidFill>
                <a:latin typeface="Aptos"/>
                <a:ea typeface="Aptos"/>
                <a:cs typeface="Aptos"/>
              </a:rPr>
              <a:t>INPUT</a:t>
            </a:r>
          </a:p>
        </p:txBody>
      </p:sp>
      <p:sp>
        <p:nvSpPr>
          <p:cNvPr id="10" name="input-heading">
            <a:extLst xmlns:a="http://schemas.openxmlformats.org/drawingml/2006/main">
              <a:ext uri="{FF2B5EF4-FFF2-40B4-BE49-F238E27FC236}">
                <a16:creationId xmlns:a16="http://schemas.microsoft.com/office/drawing/2014/main" id="{D128C1F4-39DC-44BD-B12E-9BCEC7C150E4}"/>
              </a:ext>
            </a:extLst>
          </p:cNvPr>
          <p:cNvSpPr>
            <a:spLocks xmlns:a="http://schemas.openxmlformats.org/drawingml/2006/main" noGrp="1"/>
          </p:cNvSpPr>
          <p:nvPr/>
        </p:nvSpPr>
        <p:spPr>
          <a:xfrm xmlns:a="http://schemas.openxmlformats.org/drawingml/2006/main">
            <a:off x="895350" y="3105150"/>
            <a:ext cx="2238375" cy="3619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950" b="1">
                <a:solidFill>
                  <a:srgbClr val="F5EBDD"/>
                </a:solidFill>
                <a:latin typeface="Aptos"/>
                <a:ea typeface="Aptos"/>
                <a:cs typeface="Aptos"/>
              </a:defRPr>
            </a:pPr>
            <a:r>
              <a:rPr sz="1950" b="1">
                <a:solidFill>
                  <a:srgbClr val="F5EBDD"/>
                </a:solidFill>
                <a:latin typeface="Aptos"/>
                <a:ea typeface="Aptos"/>
                <a:cs typeface="Aptos"/>
              </a:rPr>
              <a:t>Official alert text</a:t>
            </a:r>
          </a:p>
        </p:txBody>
      </p:sp>
      <p:sp>
        <p:nvSpPr>
          <p:cNvPr id="11" name="input-line-1">
            <a:extLst xmlns:a="http://schemas.openxmlformats.org/drawingml/2006/main">
              <a:ext uri="{FF2B5EF4-FFF2-40B4-BE49-F238E27FC236}">
                <a16:creationId xmlns:a16="http://schemas.microsoft.com/office/drawing/2014/main" id="{9986A1C5-FAF2-4BEC-A1DD-BF84AD1DF4AF}"/>
              </a:ext>
            </a:extLst>
          </p:cNvPr>
          <p:cNvSpPr>
            <a:spLocks xmlns:a="http://schemas.openxmlformats.org/drawingml/2006/main" noGrp="1"/>
          </p:cNvSpPr>
          <p:nvPr/>
        </p:nvSpPr>
        <p:spPr>
          <a:xfrm xmlns:a="http://schemas.openxmlformats.org/drawingml/2006/main">
            <a:off x="895350" y="3638550"/>
            <a:ext cx="2095500" cy="76200"/>
          </a:xfrm>
          <a:prstGeom xmlns:a="http://schemas.openxmlformats.org/drawingml/2006/main" prst="roundRect">
            <a:avLst>
              <a:gd name="adj" fmla="val 50000"/>
            </a:avLst>
          </a:prstGeom>
          <a:solidFill xmlns:a="http://schemas.openxmlformats.org/drawingml/2006/main">
            <a:srgbClr val="BCD4D6"/>
          </a:solidFill>
          <a:ln xmlns:a="http://schemas.openxmlformats.org/drawingml/2006/main" w="0">
            <a:solidFill>
              <a:srgbClr val="000000">
                <a:alpha val="0"/>
              </a:srgbClr>
            </a:solidFill>
            <a:prstDash val="solid"/>
          </a:ln>
        </p:spPr>
      </p:sp>
      <p:sp>
        <p:nvSpPr>
          <p:cNvPr id="12" name="input-line-2">
            <a:extLst xmlns:a="http://schemas.openxmlformats.org/drawingml/2006/main">
              <a:ext uri="{FF2B5EF4-FFF2-40B4-BE49-F238E27FC236}">
                <a16:creationId xmlns:a16="http://schemas.microsoft.com/office/drawing/2014/main" id="{62D14744-856A-4DA2-8DC2-41FE850A92D7}"/>
              </a:ext>
            </a:extLst>
          </p:cNvPr>
          <p:cNvSpPr>
            <a:spLocks xmlns:a="http://schemas.openxmlformats.org/drawingml/2006/main" noGrp="1"/>
          </p:cNvSpPr>
          <p:nvPr/>
        </p:nvSpPr>
        <p:spPr>
          <a:xfrm xmlns:a="http://schemas.openxmlformats.org/drawingml/2006/main">
            <a:off x="895350" y="3895725"/>
            <a:ext cx="1809750" cy="76200"/>
          </a:xfrm>
          <a:prstGeom xmlns:a="http://schemas.openxmlformats.org/drawingml/2006/main" prst="roundRect">
            <a:avLst>
              <a:gd name="adj" fmla="val 50000"/>
            </a:avLst>
          </a:prstGeom>
          <a:solidFill xmlns:a="http://schemas.openxmlformats.org/drawingml/2006/main">
            <a:srgbClr val="BCD4D6"/>
          </a:solidFill>
          <a:ln xmlns:a="http://schemas.openxmlformats.org/drawingml/2006/main" w="0">
            <a:solidFill>
              <a:srgbClr val="000000">
                <a:alpha val="0"/>
              </a:srgbClr>
            </a:solidFill>
            <a:prstDash val="solid"/>
          </a:ln>
        </p:spPr>
      </p:sp>
      <p:sp>
        <p:nvSpPr>
          <p:cNvPr id="13" name="input-line-3">
            <a:extLst xmlns:a="http://schemas.openxmlformats.org/drawingml/2006/main">
              <a:ext uri="{FF2B5EF4-FFF2-40B4-BE49-F238E27FC236}">
                <a16:creationId xmlns:a16="http://schemas.microsoft.com/office/drawing/2014/main" id="{1DAF5A75-8BB1-464D-BD30-0CFE63AD2347}"/>
              </a:ext>
            </a:extLst>
          </p:cNvPr>
          <p:cNvSpPr>
            <a:spLocks xmlns:a="http://schemas.openxmlformats.org/drawingml/2006/main" noGrp="1"/>
          </p:cNvSpPr>
          <p:nvPr/>
        </p:nvSpPr>
        <p:spPr>
          <a:xfrm xmlns:a="http://schemas.openxmlformats.org/drawingml/2006/main">
            <a:off x="895350" y="4152900"/>
            <a:ext cx="2247900" cy="76200"/>
          </a:xfrm>
          <a:prstGeom xmlns:a="http://schemas.openxmlformats.org/drawingml/2006/main" prst="roundRect">
            <a:avLst>
              <a:gd name="adj" fmla="val 50000"/>
            </a:avLst>
          </a:prstGeom>
          <a:solidFill xmlns:a="http://schemas.openxmlformats.org/drawingml/2006/main">
            <a:srgbClr val="BCD4D6"/>
          </a:solidFill>
          <a:ln xmlns:a="http://schemas.openxmlformats.org/drawingml/2006/main" w="0">
            <a:solidFill>
              <a:srgbClr val="000000">
                <a:alpha val="0"/>
              </a:srgbClr>
            </a:solidFill>
            <a:prstDash val="solid"/>
          </a:ln>
        </p:spPr>
      </p:sp>
      <p:sp>
        <p:nvSpPr>
          <p:cNvPr id="14" name="input-line-4">
            <a:extLst xmlns:a="http://schemas.openxmlformats.org/drawingml/2006/main">
              <a:ext uri="{FF2B5EF4-FFF2-40B4-BE49-F238E27FC236}">
                <a16:creationId xmlns:a16="http://schemas.microsoft.com/office/drawing/2014/main" id="{3A847AB9-653C-4D6B-A73A-64DBBCF0A06D}"/>
              </a:ext>
            </a:extLst>
          </p:cNvPr>
          <p:cNvSpPr>
            <a:spLocks xmlns:a="http://schemas.openxmlformats.org/drawingml/2006/main" noGrp="1"/>
          </p:cNvSpPr>
          <p:nvPr/>
        </p:nvSpPr>
        <p:spPr>
          <a:xfrm xmlns:a="http://schemas.openxmlformats.org/drawingml/2006/main">
            <a:off x="895350" y="4410075"/>
            <a:ext cx="1562100" cy="76200"/>
          </a:xfrm>
          <a:prstGeom xmlns:a="http://schemas.openxmlformats.org/drawingml/2006/main" prst="roundRect">
            <a:avLst>
              <a:gd name="adj" fmla="val 50000"/>
            </a:avLst>
          </a:prstGeom>
          <a:solidFill xmlns:a="http://schemas.openxmlformats.org/drawingml/2006/main">
            <a:srgbClr val="BCD4D6"/>
          </a:solidFill>
          <a:ln xmlns:a="http://schemas.openxmlformats.org/drawingml/2006/main" w="0">
            <a:solidFill>
              <a:srgbClr val="000000">
                <a:alpha val="0"/>
              </a:srgbClr>
            </a:solidFill>
            <a:prstDash val="solid"/>
          </a:ln>
        </p:spPr>
      </p:sp>
      <p:sp>
        <p:nvSpPr>
          <p:cNvPr id="15" name="input-divider">
            <a:extLst xmlns:a="http://schemas.openxmlformats.org/drawingml/2006/main">
              <a:ext uri="{FF2B5EF4-FFF2-40B4-BE49-F238E27FC236}">
                <a16:creationId xmlns:a16="http://schemas.microsoft.com/office/drawing/2014/main" id="{088AF350-1F4E-4CD9-A087-ADF33414D225}"/>
              </a:ext>
            </a:extLst>
          </p:cNvPr>
          <p:cNvSpPr>
            <a:spLocks xmlns:a="http://schemas.openxmlformats.org/drawingml/2006/main" noGrp="1"/>
          </p:cNvSpPr>
          <p:nvPr/>
        </p:nvSpPr>
        <p:spPr>
          <a:xfrm xmlns:a="http://schemas.openxmlformats.org/drawingml/2006/main">
            <a:off x="895350" y="4762500"/>
            <a:ext cx="2266950" cy="0"/>
          </a:xfrm>
          <a:prstGeom xmlns:a="http://schemas.openxmlformats.org/drawingml/2006/main" prst="line">
            <a:avLst/>
          </a:prstGeom>
          <a:solidFill xmlns:a="http://schemas.openxmlformats.org/drawingml/2006/main">
            <a:srgbClr val="000000">
              <a:alpha val="0"/>
            </a:srgbClr>
          </a:solidFill>
          <a:ln xmlns:a="http://schemas.openxmlformats.org/drawingml/2006/main" w="19050">
            <a:solidFill>
              <a:srgbClr val="5F9A95"/>
            </a:solidFill>
            <a:prstDash val="solid"/>
          </a:ln>
        </p:spPr>
      </p:sp>
      <p:sp>
        <p:nvSpPr>
          <p:cNvPr id="16" name="input-needs">
            <a:extLst xmlns:a="http://schemas.openxmlformats.org/drawingml/2006/main">
              <a:ext uri="{FF2B5EF4-FFF2-40B4-BE49-F238E27FC236}">
                <a16:creationId xmlns:a16="http://schemas.microsoft.com/office/drawing/2014/main" id="{A160C392-75B7-45C6-AD38-D4A01D2EDB92}"/>
              </a:ext>
            </a:extLst>
          </p:cNvPr>
          <p:cNvSpPr>
            <a:spLocks xmlns:a="http://schemas.openxmlformats.org/drawingml/2006/main" noGrp="1"/>
          </p:cNvSpPr>
          <p:nvPr/>
        </p:nvSpPr>
        <p:spPr>
          <a:xfrm xmlns:a="http://schemas.openxmlformats.org/drawingml/2006/main">
            <a:off x="895350" y="4953000"/>
            <a:ext cx="2238375" cy="4953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75" b="1">
                <a:solidFill>
                  <a:srgbClr val="F5EBDD"/>
                </a:solidFill>
                <a:latin typeface="Aptos"/>
                <a:ea typeface="Aptos"/>
                <a:cs typeface="Aptos"/>
              </a:defRPr>
            </a:pPr>
            <a:r>
              <a:rPr sz="1275" b="1">
                <a:solidFill>
                  <a:srgbClr val="F5EBDD"/>
                </a:solidFill>
                <a:latin typeface="Aptos"/>
                <a:ea typeface="Aptos"/>
                <a:cs typeface="Aptos"/>
              </a:rPr>
              <a:t>OLDER ADULT   •   PET</a:t>
            </a:r>
          </a:p>
          <a:p xmlns:a="http://schemas.openxmlformats.org/drawingml/2006/main">
            <a:pPr algn="l">
              <a:buNone/>
              <a:defRPr sz="1275" b="1">
                <a:solidFill>
                  <a:srgbClr val="F5EBDD"/>
                </a:solidFill>
                <a:latin typeface="Aptos"/>
                <a:ea typeface="Aptos"/>
                <a:cs typeface="Aptos"/>
              </a:defRPr>
            </a:pPr>
            <a:r>
              <a:rPr sz="1275" b="1">
                <a:solidFill>
                  <a:srgbClr val="F5EBDD"/>
                </a:solidFill>
                <a:latin typeface="Aptos"/>
                <a:ea typeface="Aptos"/>
                <a:cs typeface="Aptos"/>
              </a:rPr>
              <a:t>NO VEHICLE</a:t>
            </a:r>
          </a:p>
        </p:txBody>
      </p:sp>
      <p:sp>
        <p:nvSpPr>
          <p:cNvPr id="17" name="facts-frame">
            <a:extLst xmlns:a="http://schemas.openxmlformats.org/drawingml/2006/main">
              <a:ext uri="{FF2B5EF4-FFF2-40B4-BE49-F238E27FC236}">
                <a16:creationId xmlns:a16="http://schemas.microsoft.com/office/drawing/2014/main" id="{DFD0A597-EC3C-4FF8-BEF1-8DC0A9081FBE}"/>
              </a:ext>
            </a:extLst>
          </p:cNvPr>
          <p:cNvSpPr>
            <a:spLocks xmlns:a="http://schemas.openxmlformats.org/drawingml/2006/main" noGrp="1"/>
          </p:cNvSpPr>
          <p:nvPr/>
        </p:nvSpPr>
        <p:spPr>
          <a:xfrm xmlns:a="http://schemas.openxmlformats.org/drawingml/2006/main">
            <a:off x="4210050" y="2286000"/>
            <a:ext cx="3590925" cy="3524250"/>
          </a:xfrm>
          <a:prstGeom xmlns:a="http://schemas.openxmlformats.org/drawingml/2006/main" prst="roundRect">
            <a:avLst>
              <a:gd name="adj" fmla="val 6486"/>
            </a:avLst>
          </a:prstGeom>
          <a:solidFill xmlns:a="http://schemas.openxmlformats.org/drawingml/2006/main">
            <a:srgbClr val="F5EBDD"/>
          </a:solidFill>
          <a:ln xmlns:a="http://schemas.openxmlformats.org/drawingml/2006/main" w="19050">
            <a:solidFill>
              <a:srgbClr val="0B2433"/>
            </a:solidFill>
            <a:prstDash val="solid"/>
          </a:ln>
        </p:spPr>
      </p:sp>
      <p:sp>
        <p:nvSpPr>
          <p:cNvPr id="18" name="facts-kicker">
            <a:extLst xmlns:a="http://schemas.openxmlformats.org/drawingml/2006/main">
              <a:ext uri="{FF2B5EF4-FFF2-40B4-BE49-F238E27FC236}">
                <a16:creationId xmlns:a16="http://schemas.microsoft.com/office/drawing/2014/main" id="{FE57E968-574F-48A3-AC77-755CF7172C85}"/>
              </a:ext>
            </a:extLst>
          </p:cNvPr>
          <p:cNvSpPr>
            <a:spLocks xmlns:a="http://schemas.openxmlformats.org/drawingml/2006/main" noGrp="1"/>
          </p:cNvSpPr>
          <p:nvPr/>
        </p:nvSpPr>
        <p:spPr>
          <a:xfrm xmlns:a="http://schemas.openxmlformats.org/drawingml/2006/main">
            <a:off x="4552950" y="2638425"/>
            <a:ext cx="209550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5F9A95"/>
                </a:solidFill>
                <a:latin typeface="Aptos"/>
                <a:ea typeface="Aptos"/>
                <a:cs typeface="Aptos"/>
              </a:defRPr>
            </a:pPr>
            <a:r>
              <a:rPr sz="1200" b="1">
                <a:solidFill>
                  <a:srgbClr val="5F9A95"/>
                </a:solidFill>
                <a:latin typeface="Aptos"/>
                <a:ea typeface="Aptos"/>
                <a:cs typeface="Aptos"/>
              </a:rPr>
              <a:t>TRUSTED FACTS</a:t>
            </a:r>
          </a:p>
        </p:txBody>
      </p:sp>
      <p:sp>
        <p:nvSpPr>
          <p:cNvPr id="19" name="facts-heading">
            <a:extLst xmlns:a="http://schemas.openxmlformats.org/drawingml/2006/main">
              <a:ext uri="{FF2B5EF4-FFF2-40B4-BE49-F238E27FC236}">
                <a16:creationId xmlns:a16="http://schemas.microsoft.com/office/drawing/2014/main" id="{148AA410-0D57-4750-8A49-91190F26419D}"/>
              </a:ext>
            </a:extLst>
          </p:cNvPr>
          <p:cNvSpPr>
            <a:spLocks xmlns:a="http://schemas.openxmlformats.org/drawingml/2006/main" noGrp="1"/>
          </p:cNvSpPr>
          <p:nvPr/>
        </p:nvSpPr>
        <p:spPr>
          <a:xfrm xmlns:a="http://schemas.openxmlformats.org/drawingml/2006/main">
            <a:off x="4552950" y="3028950"/>
            <a:ext cx="2857500" cy="4000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100" b="1">
                <a:solidFill>
                  <a:srgbClr val="0B2433"/>
                </a:solidFill>
                <a:latin typeface="Georgia"/>
                <a:ea typeface="Georgia"/>
                <a:cs typeface="Georgia"/>
              </a:defRPr>
            </a:pPr>
            <a:r>
              <a:rPr sz="2100" b="1">
                <a:solidFill>
                  <a:srgbClr val="0B2433"/>
                </a:solidFill>
                <a:latin typeface="Georgia"/>
                <a:ea typeface="Georgia"/>
                <a:cs typeface="Georgia"/>
              </a:rPr>
              <a:t>The alert stays visible.</a:t>
            </a:r>
          </a:p>
        </p:txBody>
      </p:sp>
      <p:sp>
        <p:nvSpPr>
          <p:cNvPr id="20" name="fact-label-0">
            <a:extLst xmlns:a="http://schemas.openxmlformats.org/drawingml/2006/main">
              <a:ext uri="{FF2B5EF4-FFF2-40B4-BE49-F238E27FC236}">
                <a16:creationId xmlns:a16="http://schemas.microsoft.com/office/drawing/2014/main" id="{FE1218A8-DCBD-4406-9DB0-ADEE92C11A84}"/>
              </a:ext>
            </a:extLst>
          </p:cNvPr>
          <p:cNvSpPr>
            <a:spLocks xmlns:a="http://schemas.openxmlformats.org/drawingml/2006/main" noGrp="1"/>
          </p:cNvSpPr>
          <p:nvPr/>
        </p:nvSpPr>
        <p:spPr>
          <a:xfrm xmlns:a="http://schemas.openxmlformats.org/drawingml/2006/main">
            <a:off x="4552950" y="3714750"/>
            <a:ext cx="857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F26A5A"/>
                </a:solidFill>
                <a:latin typeface="Aptos"/>
                <a:ea typeface="Aptos"/>
                <a:cs typeface="Aptos"/>
              </a:defRPr>
            </a:pPr>
            <a:r>
              <a:rPr sz="1200" b="1">
                <a:solidFill>
                  <a:srgbClr val="F26A5A"/>
                </a:solidFill>
                <a:latin typeface="Aptos"/>
                <a:ea typeface="Aptos"/>
                <a:cs typeface="Aptos"/>
              </a:rPr>
              <a:t>HAZARD</a:t>
            </a:r>
          </a:p>
        </p:txBody>
      </p:sp>
      <p:sp>
        <p:nvSpPr>
          <p:cNvPr id="21" name="fact-value-0">
            <a:extLst xmlns:a="http://schemas.openxmlformats.org/drawingml/2006/main">
              <a:ext uri="{FF2B5EF4-FFF2-40B4-BE49-F238E27FC236}">
                <a16:creationId xmlns:a16="http://schemas.microsoft.com/office/drawing/2014/main" id="{0CBF0D84-9EDE-4DD3-9299-D4E6C1A0B27E}"/>
              </a:ext>
            </a:extLst>
          </p:cNvPr>
          <p:cNvSpPr>
            <a:spLocks xmlns:a="http://schemas.openxmlformats.org/drawingml/2006/main" noGrp="1"/>
          </p:cNvSpPr>
          <p:nvPr/>
        </p:nvSpPr>
        <p:spPr>
          <a:xfrm xmlns:a="http://schemas.openxmlformats.org/drawingml/2006/main">
            <a:off x="5505450" y="3695700"/>
            <a:ext cx="1905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10232F"/>
                </a:solidFill>
                <a:latin typeface="Aptos"/>
                <a:ea typeface="Aptos"/>
                <a:cs typeface="Aptos"/>
              </a:defRPr>
            </a:pPr>
            <a:r>
              <a:rPr sz="1500" b="1">
                <a:solidFill>
                  <a:srgbClr val="10232F"/>
                </a:solidFill>
                <a:latin typeface="Aptos"/>
                <a:ea typeface="Aptos"/>
                <a:cs typeface="Aptos"/>
              </a:rPr>
              <a:t>Wildfire warning</a:t>
            </a:r>
          </a:p>
        </p:txBody>
      </p:sp>
      <p:sp>
        <p:nvSpPr>
          <p:cNvPr id="22" name="fact-label-1">
            <a:extLst xmlns:a="http://schemas.openxmlformats.org/drawingml/2006/main">
              <a:ext uri="{FF2B5EF4-FFF2-40B4-BE49-F238E27FC236}">
                <a16:creationId xmlns:a16="http://schemas.microsoft.com/office/drawing/2014/main" id="{1FBADE29-C017-4BD3-BC07-8163547ECA52}"/>
              </a:ext>
            </a:extLst>
          </p:cNvPr>
          <p:cNvSpPr>
            <a:spLocks xmlns:a="http://schemas.openxmlformats.org/drawingml/2006/main" noGrp="1"/>
          </p:cNvSpPr>
          <p:nvPr/>
        </p:nvSpPr>
        <p:spPr>
          <a:xfrm xmlns:a="http://schemas.openxmlformats.org/drawingml/2006/main">
            <a:off x="4552950" y="4286250"/>
            <a:ext cx="857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F26A5A"/>
                </a:solidFill>
                <a:latin typeface="Aptos"/>
                <a:ea typeface="Aptos"/>
                <a:cs typeface="Aptos"/>
              </a:defRPr>
            </a:pPr>
            <a:r>
              <a:rPr sz="1200" b="1">
                <a:solidFill>
                  <a:srgbClr val="F26A5A"/>
                </a:solidFill>
                <a:latin typeface="Aptos"/>
                <a:ea typeface="Aptos"/>
                <a:cs typeface="Aptos"/>
              </a:rPr>
              <a:t>PLACE</a:t>
            </a:r>
          </a:p>
        </p:txBody>
      </p:sp>
      <p:sp>
        <p:nvSpPr>
          <p:cNvPr id="23" name="fact-value-1">
            <a:extLst xmlns:a="http://schemas.openxmlformats.org/drawingml/2006/main">
              <a:ext uri="{FF2B5EF4-FFF2-40B4-BE49-F238E27FC236}">
                <a16:creationId xmlns:a16="http://schemas.microsoft.com/office/drawing/2014/main" id="{5692FF34-4F96-47EB-9B47-730080D5A124}"/>
              </a:ext>
            </a:extLst>
          </p:cNvPr>
          <p:cNvSpPr>
            <a:spLocks xmlns:a="http://schemas.openxmlformats.org/drawingml/2006/main" noGrp="1"/>
          </p:cNvSpPr>
          <p:nvPr/>
        </p:nvSpPr>
        <p:spPr>
          <a:xfrm xmlns:a="http://schemas.openxmlformats.org/drawingml/2006/main">
            <a:off x="5505450" y="4267200"/>
            <a:ext cx="1905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10232F"/>
                </a:solidFill>
                <a:latin typeface="Aptos"/>
                <a:ea typeface="Aptos"/>
                <a:cs typeface="Aptos"/>
              </a:defRPr>
            </a:pPr>
            <a:r>
              <a:rPr sz="1500" b="1">
                <a:solidFill>
                  <a:srgbClr val="10232F"/>
                </a:solidFill>
                <a:latin typeface="Aptos"/>
                <a:ea typeface="Aptos"/>
                <a:cs typeface="Aptos"/>
              </a:rPr>
              <a:t>Area stated in alert</a:t>
            </a:r>
          </a:p>
        </p:txBody>
      </p:sp>
      <p:sp>
        <p:nvSpPr>
          <p:cNvPr id="24" name="fact-label-2">
            <a:extLst xmlns:a="http://schemas.openxmlformats.org/drawingml/2006/main">
              <a:ext uri="{FF2B5EF4-FFF2-40B4-BE49-F238E27FC236}">
                <a16:creationId xmlns:a16="http://schemas.microsoft.com/office/drawing/2014/main" id="{FE597350-19B0-415F-B8AD-ECFA4B270C5D}"/>
              </a:ext>
            </a:extLst>
          </p:cNvPr>
          <p:cNvSpPr>
            <a:spLocks xmlns:a="http://schemas.openxmlformats.org/drawingml/2006/main" noGrp="1"/>
          </p:cNvSpPr>
          <p:nvPr/>
        </p:nvSpPr>
        <p:spPr>
          <a:xfrm xmlns:a="http://schemas.openxmlformats.org/drawingml/2006/main">
            <a:off x="4552950" y="4857750"/>
            <a:ext cx="8572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F26A5A"/>
                </a:solidFill>
                <a:latin typeface="Aptos"/>
                <a:ea typeface="Aptos"/>
                <a:cs typeface="Aptos"/>
              </a:defRPr>
            </a:pPr>
            <a:r>
              <a:rPr sz="1200" b="1">
                <a:solidFill>
                  <a:srgbClr val="F26A5A"/>
                </a:solidFill>
                <a:latin typeface="Aptos"/>
                <a:ea typeface="Aptos"/>
                <a:cs typeface="Aptos"/>
              </a:rPr>
              <a:t>TIMING</a:t>
            </a:r>
          </a:p>
        </p:txBody>
      </p:sp>
      <p:sp>
        <p:nvSpPr>
          <p:cNvPr id="25" name="fact-value-2">
            <a:extLst xmlns:a="http://schemas.openxmlformats.org/drawingml/2006/main">
              <a:ext uri="{FF2B5EF4-FFF2-40B4-BE49-F238E27FC236}">
                <a16:creationId xmlns:a16="http://schemas.microsoft.com/office/drawing/2014/main" id="{825EB5C5-656A-4A93-AE84-B93B078906BA}"/>
              </a:ext>
            </a:extLst>
          </p:cNvPr>
          <p:cNvSpPr>
            <a:spLocks xmlns:a="http://schemas.openxmlformats.org/drawingml/2006/main" noGrp="1"/>
          </p:cNvSpPr>
          <p:nvPr/>
        </p:nvSpPr>
        <p:spPr>
          <a:xfrm xmlns:a="http://schemas.openxmlformats.org/drawingml/2006/main">
            <a:off x="5505450" y="4838700"/>
            <a:ext cx="19050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10232F"/>
                </a:solidFill>
                <a:latin typeface="Aptos"/>
                <a:ea typeface="Aptos"/>
                <a:cs typeface="Aptos"/>
              </a:defRPr>
            </a:pPr>
            <a:r>
              <a:rPr sz="1500" b="1">
                <a:solidFill>
                  <a:srgbClr val="10232F"/>
                </a:solidFill>
                <a:latin typeface="Aptos"/>
                <a:ea typeface="Aptos"/>
                <a:cs typeface="Aptos"/>
              </a:rPr>
              <a:t>Window stated in alert</a:t>
            </a:r>
          </a:p>
        </p:txBody>
      </p:sp>
      <p:sp>
        <p:nvSpPr>
          <p:cNvPr id="26" name="facts-note">
            <a:extLst xmlns:a="http://schemas.openxmlformats.org/drawingml/2006/main">
              <a:ext uri="{FF2B5EF4-FFF2-40B4-BE49-F238E27FC236}">
                <a16:creationId xmlns:a16="http://schemas.microsoft.com/office/drawing/2014/main" id="{A6454B4B-695A-4D56-AD22-AE00C2C93C23}"/>
              </a:ext>
            </a:extLst>
          </p:cNvPr>
          <p:cNvSpPr>
            <a:spLocks xmlns:a="http://schemas.openxmlformats.org/drawingml/2006/main" noGrp="1"/>
          </p:cNvSpPr>
          <p:nvPr/>
        </p:nvSpPr>
        <p:spPr>
          <a:xfrm xmlns:a="http://schemas.openxmlformats.org/drawingml/2006/main">
            <a:off x="4552950" y="5400675"/>
            <a:ext cx="2905125"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43849"/>
                </a:solidFill>
                <a:latin typeface="Aptos"/>
                <a:ea typeface="Aptos"/>
                <a:cs typeface="Aptos"/>
              </a:defRPr>
            </a:pPr>
            <a:r>
              <a:rPr sz="1200" b="0">
                <a:solidFill>
                  <a:srgbClr val="143849"/>
                </a:solidFill>
                <a:latin typeface="Aptos"/>
                <a:ea typeface="Aptos"/>
                <a:cs typeface="Aptos"/>
              </a:rPr>
              <a:t>Deterministic—not model-authored—facts</a:t>
            </a:r>
          </a:p>
        </p:txBody>
      </p:sp>
      <p:sp>
        <p:nvSpPr>
          <p:cNvPr id="27" name="plan-frame">
            <a:extLst xmlns:a="http://schemas.openxmlformats.org/drawingml/2006/main">
              <a:ext uri="{FF2B5EF4-FFF2-40B4-BE49-F238E27FC236}">
                <a16:creationId xmlns:a16="http://schemas.microsoft.com/office/drawing/2014/main" id="{3DFF4B26-13B0-4DC6-9432-710F68ECCE98}"/>
              </a:ext>
            </a:extLst>
          </p:cNvPr>
          <p:cNvSpPr>
            <a:spLocks xmlns:a="http://schemas.openxmlformats.org/drawingml/2006/main" noGrp="1"/>
          </p:cNvSpPr>
          <p:nvPr/>
        </p:nvSpPr>
        <p:spPr>
          <a:xfrm xmlns:a="http://schemas.openxmlformats.org/drawingml/2006/main">
            <a:off x="8439150" y="2286000"/>
            <a:ext cx="3162300" cy="3524250"/>
          </a:xfrm>
          <a:prstGeom xmlns:a="http://schemas.openxmlformats.org/drawingml/2006/main" prst="roundRect">
            <a:avLst>
              <a:gd name="adj" fmla="val 7229"/>
            </a:avLst>
          </a:prstGeom>
          <a:solidFill xmlns:a="http://schemas.openxmlformats.org/drawingml/2006/main">
            <a:srgbClr val="DDE7E5"/>
          </a:solidFill>
          <a:ln xmlns:a="http://schemas.openxmlformats.org/drawingml/2006/main" w="0">
            <a:solidFill>
              <a:srgbClr val="000000">
                <a:alpha val="0"/>
              </a:srgbClr>
            </a:solidFill>
            <a:prstDash val="solid"/>
          </a:ln>
        </p:spPr>
      </p:sp>
      <p:sp>
        <p:nvSpPr>
          <p:cNvPr id="28" name="plan-kicker">
            <a:extLst xmlns:a="http://schemas.openxmlformats.org/drawingml/2006/main">
              <a:ext uri="{FF2B5EF4-FFF2-40B4-BE49-F238E27FC236}">
                <a16:creationId xmlns:a16="http://schemas.microsoft.com/office/drawing/2014/main" id="{5B1410BE-5414-498C-92AB-F640694A2390}"/>
              </a:ext>
            </a:extLst>
          </p:cNvPr>
          <p:cNvSpPr>
            <a:spLocks xmlns:a="http://schemas.openxmlformats.org/drawingml/2006/main" noGrp="1"/>
          </p:cNvSpPr>
          <p:nvPr/>
        </p:nvSpPr>
        <p:spPr>
          <a:xfrm xmlns:a="http://schemas.openxmlformats.org/drawingml/2006/main">
            <a:off x="8743950" y="2638425"/>
            <a:ext cx="2000250" cy="2476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143849"/>
                </a:solidFill>
                <a:latin typeface="Aptos"/>
                <a:ea typeface="Aptos"/>
                <a:cs typeface="Aptos"/>
              </a:defRPr>
            </a:pPr>
            <a:r>
              <a:rPr sz="1200" b="1">
                <a:solidFill>
                  <a:srgbClr val="143849"/>
                </a:solidFill>
                <a:latin typeface="Aptos"/>
                <a:ea typeface="Aptos"/>
                <a:cs typeface="Aptos"/>
              </a:rPr>
              <a:t>HOUSEHOLD PLAN</a:t>
            </a:r>
          </a:p>
        </p:txBody>
      </p:sp>
      <p:sp>
        <p:nvSpPr>
          <p:cNvPr id="29" name="stage-band-0">
            <a:extLst xmlns:a="http://schemas.openxmlformats.org/drawingml/2006/main">
              <a:ext uri="{FF2B5EF4-FFF2-40B4-BE49-F238E27FC236}">
                <a16:creationId xmlns:a16="http://schemas.microsoft.com/office/drawing/2014/main" id="{1A8CFDAC-0012-4AA7-8B2C-960E17D963C3}"/>
              </a:ext>
            </a:extLst>
          </p:cNvPr>
          <p:cNvSpPr>
            <a:spLocks xmlns:a="http://schemas.openxmlformats.org/drawingml/2006/main" noGrp="1"/>
          </p:cNvSpPr>
          <p:nvPr/>
        </p:nvSpPr>
        <p:spPr>
          <a:xfrm xmlns:a="http://schemas.openxmlformats.org/drawingml/2006/main">
            <a:off x="8743950" y="3143250"/>
            <a:ext cx="2552700" cy="628650"/>
          </a:xfrm>
          <a:prstGeom xmlns:a="http://schemas.openxmlformats.org/drawingml/2006/main" prst="roundRect">
            <a:avLst>
              <a:gd name="adj" fmla="val 24242"/>
            </a:avLst>
          </a:prstGeom>
          <a:solidFill xmlns:a="http://schemas.openxmlformats.org/drawingml/2006/main">
            <a:srgbClr val="F26A5A"/>
          </a:solidFill>
          <a:ln xmlns:a="http://schemas.openxmlformats.org/drawingml/2006/main" w="0">
            <a:solidFill>
              <a:srgbClr val="000000">
                <a:alpha val="0"/>
              </a:srgbClr>
            </a:solidFill>
            <a:prstDash val="solid"/>
          </a:ln>
        </p:spPr>
      </p:sp>
      <p:sp>
        <p:nvSpPr>
          <p:cNvPr id="30" name="stage-label-0">
            <a:extLst xmlns:a="http://schemas.openxmlformats.org/drawingml/2006/main">
              <a:ext uri="{FF2B5EF4-FFF2-40B4-BE49-F238E27FC236}">
                <a16:creationId xmlns:a16="http://schemas.microsoft.com/office/drawing/2014/main" id="{ED7FCDED-75CB-4FD9-9E22-290B716C8FA1}"/>
              </a:ext>
            </a:extLst>
          </p:cNvPr>
          <p:cNvSpPr>
            <a:spLocks xmlns:a="http://schemas.openxmlformats.org/drawingml/2006/main" noGrp="1"/>
          </p:cNvSpPr>
          <p:nvPr/>
        </p:nvSpPr>
        <p:spPr>
          <a:xfrm xmlns:a="http://schemas.openxmlformats.org/drawingml/2006/main">
            <a:off x="8915400" y="3228975"/>
            <a:ext cx="876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FFFFFF"/>
                </a:solidFill>
                <a:latin typeface="Aptos"/>
                <a:ea typeface="Aptos"/>
                <a:cs typeface="Aptos"/>
              </a:defRPr>
            </a:pPr>
            <a:r>
              <a:rPr sz="1200" b="1">
                <a:solidFill>
                  <a:srgbClr val="FFFFFF"/>
                </a:solidFill>
                <a:latin typeface="Aptos"/>
                <a:ea typeface="Aptos"/>
                <a:cs typeface="Aptos"/>
              </a:rPr>
              <a:t>NOW</a:t>
            </a:r>
          </a:p>
        </p:txBody>
      </p:sp>
      <p:sp>
        <p:nvSpPr>
          <p:cNvPr id="31" name="stage-value-0">
            <a:extLst xmlns:a="http://schemas.openxmlformats.org/drawingml/2006/main">
              <a:ext uri="{FF2B5EF4-FFF2-40B4-BE49-F238E27FC236}">
                <a16:creationId xmlns:a16="http://schemas.microsoft.com/office/drawing/2014/main" id="{556FA747-88D8-47DA-8D29-5FA783990D67}"/>
              </a:ext>
            </a:extLst>
          </p:cNvPr>
          <p:cNvSpPr>
            <a:spLocks xmlns:a="http://schemas.openxmlformats.org/drawingml/2006/main" noGrp="1"/>
          </p:cNvSpPr>
          <p:nvPr/>
        </p:nvSpPr>
        <p:spPr>
          <a:xfrm xmlns:a="http://schemas.openxmlformats.org/drawingml/2006/main">
            <a:off x="8915400" y="3448050"/>
            <a:ext cx="2190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Follow the alert first</a:t>
            </a:r>
          </a:p>
        </p:txBody>
      </p:sp>
      <p:sp>
        <p:nvSpPr>
          <p:cNvPr id="32" name="stage-band-1">
            <a:extLst xmlns:a="http://schemas.openxmlformats.org/drawingml/2006/main">
              <a:ext uri="{FF2B5EF4-FFF2-40B4-BE49-F238E27FC236}">
                <a16:creationId xmlns:a16="http://schemas.microsoft.com/office/drawing/2014/main" id="{F9E80055-124D-43B4-AEE0-592B423CB5CD}"/>
              </a:ext>
            </a:extLst>
          </p:cNvPr>
          <p:cNvSpPr>
            <a:spLocks xmlns:a="http://schemas.openxmlformats.org/drawingml/2006/main" noGrp="1"/>
          </p:cNvSpPr>
          <p:nvPr/>
        </p:nvSpPr>
        <p:spPr>
          <a:xfrm xmlns:a="http://schemas.openxmlformats.org/drawingml/2006/main">
            <a:off x="8743950" y="3943350"/>
            <a:ext cx="2552700" cy="628650"/>
          </a:xfrm>
          <a:prstGeom xmlns:a="http://schemas.openxmlformats.org/drawingml/2006/main" prst="roundRect">
            <a:avLst>
              <a:gd name="adj" fmla="val 24242"/>
            </a:avLst>
          </a:prstGeom>
          <a:solidFill xmlns:a="http://schemas.openxmlformats.org/drawingml/2006/main">
            <a:srgbClr val="5F9A95"/>
          </a:solidFill>
          <a:ln xmlns:a="http://schemas.openxmlformats.org/drawingml/2006/main" w="0">
            <a:solidFill>
              <a:srgbClr val="000000">
                <a:alpha val="0"/>
              </a:srgbClr>
            </a:solidFill>
            <a:prstDash val="solid"/>
          </a:ln>
        </p:spPr>
      </p:sp>
      <p:sp>
        <p:nvSpPr>
          <p:cNvPr id="33" name="stage-label-1">
            <a:extLst xmlns:a="http://schemas.openxmlformats.org/drawingml/2006/main">
              <a:ext uri="{FF2B5EF4-FFF2-40B4-BE49-F238E27FC236}">
                <a16:creationId xmlns:a16="http://schemas.microsoft.com/office/drawing/2014/main" id="{CAFC31C5-04E8-4655-A99D-744A9A174475}"/>
              </a:ext>
            </a:extLst>
          </p:cNvPr>
          <p:cNvSpPr>
            <a:spLocks xmlns:a="http://schemas.openxmlformats.org/drawingml/2006/main" noGrp="1"/>
          </p:cNvSpPr>
          <p:nvPr/>
        </p:nvSpPr>
        <p:spPr>
          <a:xfrm xmlns:a="http://schemas.openxmlformats.org/drawingml/2006/main">
            <a:off x="8915400" y="4029075"/>
            <a:ext cx="876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FFFFFF"/>
                </a:solidFill>
                <a:latin typeface="Aptos"/>
                <a:ea typeface="Aptos"/>
                <a:cs typeface="Aptos"/>
              </a:defRPr>
            </a:pPr>
            <a:r>
              <a:rPr sz="1200" b="1">
                <a:solidFill>
                  <a:srgbClr val="FFFFFF"/>
                </a:solidFill>
                <a:latin typeface="Aptos"/>
                <a:ea typeface="Aptos"/>
                <a:cs typeface="Aptos"/>
              </a:rPr>
              <a:t>NEXT</a:t>
            </a:r>
          </a:p>
        </p:txBody>
      </p:sp>
      <p:sp>
        <p:nvSpPr>
          <p:cNvPr id="34" name="stage-value-1">
            <a:extLst xmlns:a="http://schemas.openxmlformats.org/drawingml/2006/main">
              <a:ext uri="{FF2B5EF4-FFF2-40B4-BE49-F238E27FC236}">
                <a16:creationId xmlns:a16="http://schemas.microsoft.com/office/drawing/2014/main" id="{58FCFE46-EF63-4B99-A59A-7C81C5CC341A}"/>
              </a:ext>
            </a:extLst>
          </p:cNvPr>
          <p:cNvSpPr>
            <a:spLocks xmlns:a="http://schemas.openxmlformats.org/drawingml/2006/main" noGrp="1"/>
          </p:cNvSpPr>
          <p:nvPr/>
        </p:nvSpPr>
        <p:spPr>
          <a:xfrm xmlns:a="http://schemas.openxmlformats.org/drawingml/2006/main">
            <a:off x="8915400" y="4248150"/>
            <a:ext cx="2190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FFFFFF"/>
                </a:solidFill>
                <a:latin typeface="Aptos"/>
                <a:ea typeface="Aptos"/>
                <a:cs typeface="Aptos"/>
              </a:defRPr>
            </a:pPr>
            <a:r>
              <a:rPr sz="1350" b="1">
                <a:solidFill>
                  <a:srgbClr val="FFFFFF"/>
                </a:solidFill>
                <a:latin typeface="Aptos"/>
                <a:ea typeface="Aptos"/>
                <a:cs typeface="Aptos"/>
              </a:rPr>
              <a:t>Stage household needs</a:t>
            </a:r>
          </a:p>
        </p:txBody>
      </p:sp>
      <p:sp>
        <p:nvSpPr>
          <p:cNvPr id="35" name="stage-band-2">
            <a:extLst xmlns:a="http://schemas.openxmlformats.org/drawingml/2006/main">
              <a:ext uri="{FF2B5EF4-FFF2-40B4-BE49-F238E27FC236}">
                <a16:creationId xmlns:a16="http://schemas.microsoft.com/office/drawing/2014/main" id="{4D260999-63C3-468E-8A2B-5B91805EB510}"/>
              </a:ext>
            </a:extLst>
          </p:cNvPr>
          <p:cNvSpPr>
            <a:spLocks xmlns:a="http://schemas.openxmlformats.org/drawingml/2006/main" noGrp="1"/>
          </p:cNvSpPr>
          <p:nvPr/>
        </p:nvSpPr>
        <p:spPr>
          <a:xfrm xmlns:a="http://schemas.openxmlformats.org/drawingml/2006/main">
            <a:off x="8743950" y="4743450"/>
            <a:ext cx="2552700" cy="628650"/>
          </a:xfrm>
          <a:prstGeom xmlns:a="http://schemas.openxmlformats.org/drawingml/2006/main" prst="roundRect">
            <a:avLst>
              <a:gd name="adj" fmla="val 24242"/>
            </a:avLst>
          </a:prstGeom>
          <a:solidFill xmlns:a="http://schemas.openxmlformats.org/drawingml/2006/main">
            <a:srgbClr val="0B2433"/>
          </a:solidFill>
          <a:ln xmlns:a="http://schemas.openxmlformats.org/drawingml/2006/main" w="0">
            <a:solidFill>
              <a:srgbClr val="000000">
                <a:alpha val="0"/>
              </a:srgbClr>
            </a:solidFill>
            <a:prstDash val="solid"/>
          </a:ln>
        </p:spPr>
      </p:sp>
      <p:sp>
        <p:nvSpPr>
          <p:cNvPr id="36" name="stage-label-2">
            <a:extLst xmlns:a="http://schemas.openxmlformats.org/drawingml/2006/main">
              <a:ext uri="{FF2B5EF4-FFF2-40B4-BE49-F238E27FC236}">
                <a16:creationId xmlns:a16="http://schemas.microsoft.com/office/drawing/2014/main" id="{D37EED1B-A5A3-42B4-AB5A-C415F9C90AA7}"/>
              </a:ext>
            </a:extLst>
          </p:cNvPr>
          <p:cNvSpPr>
            <a:spLocks xmlns:a="http://schemas.openxmlformats.org/drawingml/2006/main" noGrp="1"/>
          </p:cNvSpPr>
          <p:nvPr/>
        </p:nvSpPr>
        <p:spPr>
          <a:xfrm xmlns:a="http://schemas.openxmlformats.org/drawingml/2006/main">
            <a:off x="8915400" y="4829175"/>
            <a:ext cx="876300" cy="2095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F5EBDD"/>
                </a:solidFill>
                <a:latin typeface="Aptos"/>
                <a:ea typeface="Aptos"/>
                <a:cs typeface="Aptos"/>
              </a:defRPr>
            </a:pPr>
            <a:r>
              <a:rPr sz="1200" b="1">
                <a:solidFill>
                  <a:srgbClr val="F5EBDD"/>
                </a:solidFill>
                <a:latin typeface="Aptos"/>
                <a:ea typeface="Aptos"/>
                <a:cs typeface="Aptos"/>
              </a:rPr>
              <a:t>IF WORSE</a:t>
            </a:r>
          </a:p>
        </p:txBody>
      </p:sp>
      <p:sp>
        <p:nvSpPr>
          <p:cNvPr id="37" name="stage-value-2">
            <a:extLst xmlns:a="http://schemas.openxmlformats.org/drawingml/2006/main">
              <a:ext uri="{FF2B5EF4-FFF2-40B4-BE49-F238E27FC236}">
                <a16:creationId xmlns:a16="http://schemas.microsoft.com/office/drawing/2014/main" id="{077138B6-6796-48FD-998B-FFD05CC16D51}"/>
              </a:ext>
            </a:extLst>
          </p:cNvPr>
          <p:cNvSpPr>
            <a:spLocks xmlns:a="http://schemas.openxmlformats.org/drawingml/2006/main" noGrp="1"/>
          </p:cNvSpPr>
          <p:nvPr/>
        </p:nvSpPr>
        <p:spPr>
          <a:xfrm xmlns:a="http://schemas.openxmlformats.org/drawingml/2006/main">
            <a:off x="8915400" y="5048250"/>
            <a:ext cx="2190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F5EBDD"/>
                </a:solidFill>
                <a:latin typeface="Aptos"/>
                <a:ea typeface="Aptos"/>
                <a:cs typeface="Aptos"/>
              </a:defRPr>
            </a:pPr>
            <a:r>
              <a:rPr sz="1350" b="1">
                <a:solidFill>
                  <a:srgbClr val="F5EBDD"/>
                </a:solidFill>
                <a:latin typeface="Aptos"/>
                <a:ea typeface="Aptos"/>
                <a:cs typeface="Aptos"/>
              </a:rPr>
              <a:t>Defer to officials</a:t>
            </a:r>
          </a:p>
        </p:txBody>
      </p:sp>
      <p:sp>
        <p:nvSpPr>
          <p:cNvPr id="38" name="plan-source-note">
            <a:extLst xmlns:a="http://schemas.openxmlformats.org/drawingml/2006/main">
              <a:ext uri="{FF2B5EF4-FFF2-40B4-BE49-F238E27FC236}">
                <a16:creationId xmlns:a16="http://schemas.microsoft.com/office/drawing/2014/main" id="{9EC83574-7CFF-4878-9C47-BBC2E02B3D71}"/>
              </a:ext>
            </a:extLst>
          </p:cNvPr>
          <p:cNvSpPr>
            <a:spLocks xmlns:a="http://schemas.openxmlformats.org/drawingml/2006/main" noGrp="1"/>
          </p:cNvSpPr>
          <p:nvPr/>
        </p:nvSpPr>
        <p:spPr>
          <a:xfrm xmlns:a="http://schemas.openxmlformats.org/drawingml/2006/main">
            <a:off x="8743950" y="5505450"/>
            <a:ext cx="257175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0">
                <a:solidFill>
                  <a:srgbClr val="143849"/>
                </a:solidFill>
                <a:latin typeface="Aptos"/>
                <a:ea typeface="Aptos"/>
                <a:cs typeface="Aptos"/>
              </a:defRPr>
            </a:pPr>
            <a:r>
              <a:rPr sz="1200" b="0">
                <a:solidFill>
                  <a:srgbClr val="143849"/>
                </a:solidFill>
                <a:latin typeface="Aptos"/>
                <a:ea typeface="Aptos"/>
                <a:cs typeface="Aptos"/>
              </a:rPr>
              <a:t>Every action keeps its source IDs.</a:t>
            </a:r>
          </a:p>
        </p:txBody>
      </p:sp>
    </p:spTree>
    <p:extLst>
      <p:ext uri="{BB962C8B-B14F-4D97-AF65-F5344CB8AC3E}">
        <p14:creationId xmlns:p14="http://schemas.microsoft.com/office/powerpoint/2010/main" val="1943086465"/>
      </p:ext>
    </p:extLst>
  </p:cSld>
</p:sld>
</file>

<file path=ppt/slides/slide4.xml><?xml version="1.0" encoding="utf-8"?>
<p:sld xmlns:p="http://schemas.openxmlformats.org/presentationml/2006/main">
  <p:cSld>
    <p:bg>
      <p:bgPr>
        <a:solidFill xmlns:a="http://schemas.openxmlformats.org/drawingml/2006/main">
          <a:srgbClr val="0B2433"/>
        </a:solidFill>
      </p:bgPr>
    </p:bg>
    <p:spTree>
      <p:nvGrpSpPr>
        <p:cNvPr id="1" name=""/>
        <p:cNvGrpSpPr/>
        <p:nvPr/>
      </p:nvGrpSpPr>
      <p:grpSpPr>
        <a:xfrm xmlns:a="http://schemas.openxmlformats.org/drawingml/2006/main"/>
      </p:grpSpPr>
      <p:sp>
        <p:nvSpPr>
          <p:cNvPr id="26" name="brand-4">
            <a:extLst xmlns:a="http://schemas.openxmlformats.org/drawingml/2006/main">
              <a:ext uri="{FF2B5EF4-FFF2-40B4-BE49-F238E27FC236}">
                <a16:creationId xmlns:a16="http://schemas.microsoft.com/office/drawing/2014/main" id="{DB05DB3C-792A-4102-A7AA-9B75CD5C11AE}"/>
              </a:ext>
            </a:extLst>
          </p:cNvPr>
          <p:cNvSpPr>
            <a:spLocks xmlns:a="http://schemas.openxmlformats.org/drawingml/2006/main" noGrp="1"/>
          </p:cNvSpPr>
          <p:nvPr/>
        </p:nvSpPr>
        <p:spPr>
          <a:xfrm xmlns:a="http://schemas.openxmlformats.org/drawingml/2006/main">
            <a:off x="590550" y="40005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F5EBDD"/>
                </a:solidFill>
                <a:latin typeface="Aptos"/>
                <a:ea typeface="Aptos"/>
                <a:cs typeface="Aptos"/>
              </a:defRPr>
            </a:pPr>
            <a:r>
              <a:rPr sz="1200" b="1">
                <a:solidFill>
                  <a:srgbClr val="F5EBDD"/>
                </a:solidFill>
                <a:latin typeface="Aptos"/>
                <a:ea typeface="Aptos"/>
                <a:cs typeface="Aptos"/>
              </a:rPr>
              <a:t>CREEKREADY</a:t>
            </a:r>
          </a:p>
        </p:txBody>
      </p:sp>
      <p:sp>
        <p:nvSpPr>
          <p:cNvPr id="2" name="brand-rule-4">
            <a:extLst xmlns:a="http://schemas.openxmlformats.org/drawingml/2006/main">
              <a:ext uri="{FF2B5EF4-FFF2-40B4-BE49-F238E27FC236}">
                <a16:creationId xmlns:a16="http://schemas.microsoft.com/office/drawing/2014/main" id="{6E958BDB-15CB-4173-946E-077164A9450E}"/>
              </a:ext>
            </a:extLst>
          </p:cNvPr>
          <p:cNvSpPr>
            <a:spLocks xmlns:a="http://schemas.openxmlformats.org/drawingml/2006/main" noGrp="1"/>
          </p:cNvSpPr>
          <p:nvPr/>
        </p:nvSpPr>
        <p:spPr>
          <a:xfrm xmlns:a="http://schemas.openxmlformats.org/drawingml/2006/main">
            <a:off x="590550" y="704850"/>
            <a:ext cx="685800" cy="47625"/>
          </a:xfrm>
          <a:prstGeom xmlns:a="http://schemas.openxmlformats.org/drawingml/2006/main" prst="rect">
            <a:avLst/>
          </a:prstGeom>
          <a:solidFill xmlns:a="http://schemas.openxmlformats.org/drawingml/2006/main">
            <a:srgbClr val="F26A5A"/>
          </a:solidFill>
          <a:ln xmlns:a="http://schemas.openxmlformats.org/drawingml/2006/main" w="0">
            <a:solidFill>
              <a:srgbClr val="000000">
                <a:alpha val="0"/>
              </a:srgbClr>
            </a:solidFill>
            <a:prstDash val="solid"/>
          </a:ln>
        </p:spPr>
      </p:sp>
      <p:sp>
        <p:nvSpPr>
          <p:cNvPr id="3" name="page-4">
            <a:extLst xmlns:a="http://schemas.openxmlformats.org/drawingml/2006/main">
              <a:ext uri="{FF2B5EF4-FFF2-40B4-BE49-F238E27FC236}">
                <a16:creationId xmlns:a16="http://schemas.microsoft.com/office/drawing/2014/main" id="{5F589EB4-5FB2-42A7-8318-1F48756CC36E}"/>
              </a:ext>
            </a:extLst>
          </p:cNvPr>
          <p:cNvSpPr>
            <a:spLocks xmlns:a="http://schemas.openxmlformats.org/drawingml/2006/main" noGrp="1"/>
          </p:cNvSpPr>
          <p:nvPr/>
        </p:nvSpPr>
        <p:spPr>
          <a:xfrm xmlns:a="http://schemas.openxmlformats.org/drawingml/2006/main">
            <a:off x="11049000" y="6191250"/>
            <a:ext cx="533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BCD4D6"/>
                </a:solidFill>
                <a:latin typeface="Aptos"/>
                <a:ea typeface="Aptos"/>
                <a:cs typeface="Aptos"/>
              </a:defRPr>
            </a:pPr>
            <a:r>
              <a:rPr sz="1200" b="1">
                <a:solidFill>
                  <a:srgbClr val="BCD4D6"/>
                </a:solidFill>
                <a:latin typeface="Aptos"/>
                <a:ea typeface="Aptos"/>
                <a:cs typeface="Aptos"/>
              </a:rPr>
              <a:t>04</a:t>
            </a:r>
          </a:p>
        </p:txBody>
      </p:sp>
      <p:sp>
        <p:nvSpPr>
          <p:cNvPr id="4" name="trust-title">
            <a:extLst xmlns:a="http://schemas.openxmlformats.org/drawingml/2006/main">
              <a:ext uri="{FF2B5EF4-FFF2-40B4-BE49-F238E27FC236}">
                <a16:creationId xmlns:a16="http://schemas.microsoft.com/office/drawing/2014/main" id="{093E2A90-D554-410D-998B-5A5785F521AA}"/>
              </a:ext>
            </a:extLst>
          </p:cNvPr>
          <p:cNvSpPr>
            <a:spLocks xmlns:a="http://schemas.openxmlformats.org/drawingml/2006/main" noGrp="1"/>
          </p:cNvSpPr>
          <p:nvPr/>
        </p:nvSpPr>
        <p:spPr>
          <a:xfrm xmlns:a="http://schemas.openxmlformats.org/drawingml/2006/main">
            <a:off x="590550" y="990600"/>
            <a:ext cx="10287000" cy="5715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150" b="1">
                <a:solidFill>
                  <a:srgbClr val="F5EBDD"/>
                </a:solidFill>
                <a:latin typeface="Georgia"/>
                <a:ea typeface="Georgia"/>
                <a:cs typeface="Georgia"/>
              </a:defRPr>
            </a:pPr>
            <a:r>
              <a:rPr sz="3150" b="1">
                <a:solidFill>
                  <a:srgbClr val="F5EBDD"/>
                </a:solidFill>
                <a:latin typeface="Georgia"/>
                <a:ea typeface="Georgia"/>
                <a:cs typeface="Georgia"/>
              </a:rPr>
              <a:t>AI helps choose the order—not the facts.</a:t>
            </a:r>
          </a:p>
        </p:txBody>
      </p:sp>
      <p:sp>
        <p:nvSpPr>
          <p:cNvPr id="5" name="trust-subtitle">
            <a:extLst xmlns:a="http://schemas.openxmlformats.org/drawingml/2006/main">
              <a:ext uri="{FF2B5EF4-FFF2-40B4-BE49-F238E27FC236}">
                <a16:creationId xmlns:a16="http://schemas.microsoft.com/office/drawing/2014/main" id="{C8186927-1846-449C-8618-EA7E29B20874}"/>
              </a:ext>
            </a:extLst>
          </p:cNvPr>
          <p:cNvSpPr>
            <a:spLocks xmlns:a="http://schemas.openxmlformats.org/drawingml/2006/main" noGrp="1"/>
          </p:cNvSpPr>
          <p:nvPr/>
        </p:nvSpPr>
        <p:spPr>
          <a:xfrm xmlns:a="http://schemas.openxmlformats.org/drawingml/2006/main">
            <a:off x="590550" y="1676400"/>
            <a:ext cx="981075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0">
                <a:solidFill>
                  <a:srgbClr val="BCD4D6"/>
                </a:solidFill>
                <a:latin typeface="Aptos"/>
                <a:ea typeface="Aptos"/>
                <a:cs typeface="Aptos"/>
              </a:defRPr>
            </a:pPr>
            <a:r>
              <a:rPr sz="1725" b="0">
                <a:solidFill>
                  <a:srgbClr val="BCD4D6"/>
                </a:solidFill>
                <a:latin typeface="Aptos"/>
                <a:ea typeface="Aptos"/>
                <a:cs typeface="Aptos"/>
              </a:rPr>
              <a:t>A narrow role for Featherless keeps the safety boundary inspectable.</a:t>
            </a:r>
          </a:p>
        </p:txBody>
      </p:sp>
      <p:sp>
        <p:nvSpPr>
          <p:cNvPr id="6" name="trust-connector-1">
            <a:extLst xmlns:a="http://schemas.openxmlformats.org/drawingml/2006/main">
              <a:ext uri="{FF2B5EF4-FFF2-40B4-BE49-F238E27FC236}">
                <a16:creationId xmlns:a16="http://schemas.microsoft.com/office/drawing/2014/main" id="{C75AE7A7-BAF5-413F-A1BA-2FBC0A96FE27}"/>
              </a:ext>
            </a:extLst>
          </p:cNvPr>
          <p:cNvSpPr>
            <a:spLocks xmlns:a="http://schemas.openxmlformats.org/drawingml/2006/main" noGrp="1"/>
          </p:cNvSpPr>
          <p:nvPr/>
        </p:nvSpPr>
        <p:spPr>
          <a:xfrm xmlns:a="http://schemas.openxmlformats.org/drawingml/2006/main">
            <a:off x="3000375" y="3590925"/>
            <a:ext cx="809625" cy="400050"/>
          </a:xfrm>
          <a:prstGeom xmlns:a="http://schemas.openxmlformats.org/drawingml/2006/main" prst="rightArrow">
            <a:avLst/>
          </a:prstGeom>
          <a:solidFill xmlns:a="http://schemas.openxmlformats.org/drawingml/2006/main">
            <a:srgbClr val="F26A5A"/>
          </a:solidFill>
          <a:ln xmlns:a="http://schemas.openxmlformats.org/drawingml/2006/main" w="0">
            <a:solidFill>
              <a:srgbClr val="000000">
                <a:alpha val="0"/>
              </a:srgbClr>
            </a:solidFill>
            <a:prstDash val="solid"/>
          </a:ln>
        </p:spPr>
      </p:sp>
      <p:sp>
        <p:nvSpPr>
          <p:cNvPr id="7" name="trust-connector-2">
            <a:extLst xmlns:a="http://schemas.openxmlformats.org/drawingml/2006/main">
              <a:ext uri="{FF2B5EF4-FFF2-40B4-BE49-F238E27FC236}">
                <a16:creationId xmlns:a16="http://schemas.microsoft.com/office/drawing/2014/main" id="{B6370793-560D-46D2-8F8E-7D53835A1B17}"/>
              </a:ext>
            </a:extLst>
          </p:cNvPr>
          <p:cNvSpPr>
            <a:spLocks xmlns:a="http://schemas.openxmlformats.org/drawingml/2006/main" noGrp="1"/>
          </p:cNvSpPr>
          <p:nvPr/>
        </p:nvSpPr>
        <p:spPr>
          <a:xfrm xmlns:a="http://schemas.openxmlformats.org/drawingml/2006/main">
            <a:off x="5743575" y="3590925"/>
            <a:ext cx="809625" cy="400050"/>
          </a:xfrm>
          <a:prstGeom xmlns:a="http://schemas.openxmlformats.org/drawingml/2006/main" prst="rightArrow">
            <a:avLst/>
          </a:prstGeom>
          <a:solidFill xmlns:a="http://schemas.openxmlformats.org/drawingml/2006/main">
            <a:srgbClr val="5F9A95"/>
          </a:solidFill>
          <a:ln xmlns:a="http://schemas.openxmlformats.org/drawingml/2006/main" w="0">
            <a:solidFill>
              <a:srgbClr val="000000">
                <a:alpha val="0"/>
              </a:srgbClr>
            </a:solidFill>
            <a:prstDash val="solid"/>
          </a:ln>
        </p:spPr>
      </p:sp>
      <p:sp>
        <p:nvSpPr>
          <p:cNvPr id="8" name="trust-connector-3">
            <a:extLst xmlns:a="http://schemas.openxmlformats.org/drawingml/2006/main">
              <a:ext uri="{FF2B5EF4-FFF2-40B4-BE49-F238E27FC236}">
                <a16:creationId xmlns:a16="http://schemas.microsoft.com/office/drawing/2014/main" id="{58D61DDA-FE97-45E0-8AFC-89AC2E54C37E}"/>
              </a:ext>
            </a:extLst>
          </p:cNvPr>
          <p:cNvSpPr>
            <a:spLocks xmlns:a="http://schemas.openxmlformats.org/drawingml/2006/main" noGrp="1"/>
          </p:cNvSpPr>
          <p:nvPr/>
        </p:nvSpPr>
        <p:spPr>
          <a:xfrm xmlns:a="http://schemas.openxmlformats.org/drawingml/2006/main">
            <a:off x="8486775" y="3590925"/>
            <a:ext cx="809625" cy="400050"/>
          </a:xfrm>
          <a:prstGeom xmlns:a="http://schemas.openxmlformats.org/drawingml/2006/main" prst="rightArrow">
            <a:avLst/>
          </a:prstGeom>
          <a:solidFill xmlns:a="http://schemas.openxmlformats.org/drawingml/2006/main">
            <a:srgbClr val="F26A5A"/>
          </a:solidFill>
          <a:ln xmlns:a="http://schemas.openxmlformats.org/drawingml/2006/main" w="0">
            <a:solidFill>
              <a:srgbClr val="000000">
                <a:alpha val="0"/>
              </a:srgbClr>
            </a:solidFill>
            <a:prstDash val="solid"/>
          </a:ln>
        </p:spPr>
      </p:sp>
      <p:sp>
        <p:nvSpPr>
          <p:cNvPr id="9" name="trust-station-0">
            <a:extLst xmlns:a="http://schemas.openxmlformats.org/drawingml/2006/main">
              <a:ext uri="{FF2B5EF4-FFF2-40B4-BE49-F238E27FC236}">
                <a16:creationId xmlns:a16="http://schemas.microsoft.com/office/drawing/2014/main" id="{B7DDE7D9-37D8-456D-B627-FD0A29117C36}"/>
              </a:ext>
            </a:extLst>
          </p:cNvPr>
          <p:cNvSpPr>
            <a:spLocks xmlns:a="http://schemas.openxmlformats.org/drawingml/2006/main" noGrp="1"/>
          </p:cNvSpPr>
          <p:nvPr/>
        </p:nvSpPr>
        <p:spPr>
          <a:xfrm xmlns:a="http://schemas.openxmlformats.org/drawingml/2006/main">
            <a:off x="590550" y="2705100"/>
            <a:ext cx="2419350" cy="2571750"/>
          </a:xfrm>
          <a:prstGeom xmlns:a="http://schemas.openxmlformats.org/drawingml/2006/main" prst="roundRect">
            <a:avLst>
              <a:gd name="adj" fmla="val 8661"/>
            </a:avLst>
          </a:prstGeom>
          <a:solidFill xmlns:a="http://schemas.openxmlformats.org/drawingml/2006/main">
            <a:srgbClr val="F5EBDD"/>
          </a:solidFill>
          <a:ln xmlns:a="http://schemas.openxmlformats.org/drawingml/2006/main" w="0">
            <a:solidFill>
              <a:srgbClr val="000000">
                <a:alpha val="0"/>
              </a:srgbClr>
            </a:solidFill>
            <a:prstDash val="solid"/>
          </a:ln>
        </p:spPr>
      </p:sp>
      <p:sp>
        <p:nvSpPr>
          <p:cNvPr id="10" name="trust-num-0">
            <a:extLst xmlns:a="http://schemas.openxmlformats.org/drawingml/2006/main">
              <a:ext uri="{FF2B5EF4-FFF2-40B4-BE49-F238E27FC236}">
                <a16:creationId xmlns:a16="http://schemas.microsoft.com/office/drawing/2014/main" id="{EDFB2FDF-4862-4EDC-A9B0-14C6DC2CDAAE}"/>
              </a:ext>
            </a:extLst>
          </p:cNvPr>
          <p:cNvSpPr>
            <a:spLocks xmlns:a="http://schemas.openxmlformats.org/drawingml/2006/main" noGrp="1"/>
          </p:cNvSpPr>
          <p:nvPr/>
        </p:nvSpPr>
        <p:spPr>
          <a:xfrm xmlns:a="http://schemas.openxmlformats.org/drawingml/2006/main">
            <a:off x="819150" y="2943225"/>
            <a:ext cx="495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F26A5A"/>
                </a:solidFill>
                <a:latin typeface="Aptos"/>
                <a:ea typeface="Aptos"/>
                <a:cs typeface="Aptos"/>
              </a:defRPr>
            </a:pPr>
            <a:r>
              <a:rPr sz="1350" b="1">
                <a:solidFill>
                  <a:srgbClr val="F26A5A"/>
                </a:solidFill>
                <a:latin typeface="Aptos"/>
                <a:ea typeface="Aptos"/>
                <a:cs typeface="Aptos"/>
              </a:rPr>
              <a:t>01</a:t>
            </a:r>
          </a:p>
        </p:txBody>
      </p:sp>
      <p:sp>
        <p:nvSpPr>
          <p:cNvPr id="11" name="trust-heading-0">
            <a:extLst xmlns:a="http://schemas.openxmlformats.org/drawingml/2006/main">
              <a:ext uri="{FF2B5EF4-FFF2-40B4-BE49-F238E27FC236}">
                <a16:creationId xmlns:a16="http://schemas.microsoft.com/office/drawing/2014/main" id="{7EA4CFBA-7C39-4845-B082-E198E2A45949}"/>
              </a:ext>
            </a:extLst>
          </p:cNvPr>
          <p:cNvSpPr>
            <a:spLocks xmlns:a="http://schemas.openxmlformats.org/drawingml/2006/main" noGrp="1"/>
          </p:cNvSpPr>
          <p:nvPr/>
        </p:nvSpPr>
        <p:spPr>
          <a:xfrm xmlns:a="http://schemas.openxmlformats.org/drawingml/2006/main">
            <a:off x="819150" y="3419475"/>
            <a:ext cx="19621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1">
                <a:solidFill>
                  <a:srgbClr val="0B2433"/>
                </a:solidFill>
                <a:latin typeface="Georgia"/>
                <a:ea typeface="Georgia"/>
                <a:cs typeface="Georgia"/>
              </a:defRPr>
            </a:pPr>
            <a:r>
              <a:rPr sz="1875" b="1">
                <a:solidFill>
                  <a:srgbClr val="0B2433"/>
                </a:solidFill>
                <a:latin typeface="Georgia"/>
                <a:ea typeface="Georgia"/>
                <a:cs typeface="Georgia"/>
              </a:rPr>
              <a:t>Facts stay bounded</a:t>
            </a:r>
          </a:p>
        </p:txBody>
      </p:sp>
      <p:sp>
        <p:nvSpPr>
          <p:cNvPr id="12" name="trust-body-0">
            <a:extLst xmlns:a="http://schemas.openxmlformats.org/drawingml/2006/main">
              <a:ext uri="{FF2B5EF4-FFF2-40B4-BE49-F238E27FC236}">
                <a16:creationId xmlns:a16="http://schemas.microsoft.com/office/drawing/2014/main" id="{696E75C9-F7BF-4BFE-87A7-BF3DD85CF7B5}"/>
              </a:ext>
            </a:extLst>
          </p:cNvPr>
          <p:cNvSpPr>
            <a:spLocks xmlns:a="http://schemas.openxmlformats.org/drawingml/2006/main" noGrp="1"/>
          </p:cNvSpPr>
          <p:nvPr/>
        </p:nvSpPr>
        <p:spPr>
          <a:xfrm xmlns:a="http://schemas.openxmlformats.org/drawingml/2006/main">
            <a:off x="819150" y="4171950"/>
            <a:ext cx="196215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143849"/>
                </a:solidFill>
                <a:latin typeface="Aptos"/>
                <a:ea typeface="Aptos"/>
                <a:cs typeface="Aptos"/>
              </a:defRPr>
            </a:pPr>
            <a:r>
              <a:rPr sz="1350" b="0">
                <a:solidFill>
                  <a:srgbClr val="143849"/>
                </a:solidFill>
                <a:latin typeface="Aptos"/>
                <a:ea typeface="Aptos"/>
                <a:cs typeface="Aptos"/>
              </a:rPr>
              <a:t>Displayed place, timing, and official instructions: deterministic extraction, not model output.</a:t>
            </a:r>
          </a:p>
        </p:txBody>
      </p:sp>
      <p:sp>
        <p:nvSpPr>
          <p:cNvPr id="13" name="trust-station-1">
            <a:extLst xmlns:a="http://schemas.openxmlformats.org/drawingml/2006/main">
              <a:ext uri="{FF2B5EF4-FFF2-40B4-BE49-F238E27FC236}">
                <a16:creationId xmlns:a16="http://schemas.microsoft.com/office/drawing/2014/main" id="{C7511CEE-4EF9-46AC-88C6-E6A06EEA16EA}"/>
              </a:ext>
            </a:extLst>
          </p:cNvPr>
          <p:cNvSpPr>
            <a:spLocks xmlns:a="http://schemas.openxmlformats.org/drawingml/2006/main" noGrp="1"/>
          </p:cNvSpPr>
          <p:nvPr/>
        </p:nvSpPr>
        <p:spPr>
          <a:xfrm xmlns:a="http://schemas.openxmlformats.org/drawingml/2006/main">
            <a:off x="3333750" y="2705100"/>
            <a:ext cx="2419350" cy="2571750"/>
          </a:xfrm>
          <a:prstGeom xmlns:a="http://schemas.openxmlformats.org/drawingml/2006/main" prst="roundRect">
            <a:avLst>
              <a:gd name="adj" fmla="val 8661"/>
            </a:avLst>
          </a:prstGeom>
          <a:solidFill xmlns:a="http://schemas.openxmlformats.org/drawingml/2006/main">
            <a:srgbClr val="F26A5A"/>
          </a:solidFill>
          <a:ln xmlns:a="http://schemas.openxmlformats.org/drawingml/2006/main" w="0">
            <a:solidFill>
              <a:srgbClr val="000000">
                <a:alpha val="0"/>
              </a:srgbClr>
            </a:solidFill>
            <a:prstDash val="solid"/>
          </a:ln>
        </p:spPr>
      </p:sp>
      <p:sp>
        <p:nvSpPr>
          <p:cNvPr id="14" name="trust-num-1">
            <a:extLst xmlns:a="http://schemas.openxmlformats.org/drawingml/2006/main">
              <a:ext uri="{FF2B5EF4-FFF2-40B4-BE49-F238E27FC236}">
                <a16:creationId xmlns:a16="http://schemas.microsoft.com/office/drawing/2014/main" id="{126B1E0F-7077-47EF-8DF6-D0A7612378A7}"/>
              </a:ext>
            </a:extLst>
          </p:cNvPr>
          <p:cNvSpPr>
            <a:spLocks xmlns:a="http://schemas.openxmlformats.org/drawingml/2006/main" noGrp="1"/>
          </p:cNvSpPr>
          <p:nvPr/>
        </p:nvSpPr>
        <p:spPr>
          <a:xfrm xmlns:a="http://schemas.openxmlformats.org/drawingml/2006/main">
            <a:off x="3562350" y="2943225"/>
            <a:ext cx="495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0B2433"/>
                </a:solidFill>
                <a:latin typeface="Aptos"/>
                <a:ea typeface="Aptos"/>
                <a:cs typeface="Aptos"/>
              </a:defRPr>
            </a:pPr>
            <a:r>
              <a:rPr sz="1350" b="1">
                <a:solidFill>
                  <a:srgbClr val="0B2433"/>
                </a:solidFill>
                <a:latin typeface="Aptos"/>
                <a:ea typeface="Aptos"/>
                <a:cs typeface="Aptos"/>
              </a:rPr>
              <a:t>02</a:t>
            </a:r>
          </a:p>
        </p:txBody>
      </p:sp>
      <p:sp>
        <p:nvSpPr>
          <p:cNvPr id="15" name="trust-heading-1">
            <a:extLst xmlns:a="http://schemas.openxmlformats.org/drawingml/2006/main">
              <a:ext uri="{FF2B5EF4-FFF2-40B4-BE49-F238E27FC236}">
                <a16:creationId xmlns:a16="http://schemas.microsoft.com/office/drawing/2014/main" id="{D245E732-5E01-49C1-8E23-72E6953F254A}"/>
              </a:ext>
            </a:extLst>
          </p:cNvPr>
          <p:cNvSpPr>
            <a:spLocks xmlns:a="http://schemas.openxmlformats.org/drawingml/2006/main" noGrp="1"/>
          </p:cNvSpPr>
          <p:nvPr/>
        </p:nvSpPr>
        <p:spPr>
          <a:xfrm xmlns:a="http://schemas.openxmlformats.org/drawingml/2006/main">
            <a:off x="3562350" y="3419475"/>
            <a:ext cx="19621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1">
                <a:solidFill>
                  <a:srgbClr val="FFFFFF"/>
                </a:solidFill>
                <a:latin typeface="Georgia"/>
                <a:ea typeface="Georgia"/>
                <a:cs typeface="Georgia"/>
              </a:defRPr>
            </a:pPr>
            <a:r>
              <a:rPr sz="1875" b="1">
                <a:solidFill>
                  <a:srgbClr val="FFFFFF"/>
                </a:solidFill>
                <a:latin typeface="Georgia"/>
                <a:ea typeface="Georgia"/>
                <a:cs typeface="Georgia"/>
              </a:rPr>
              <a:t>AI ranks vetted IDs</a:t>
            </a:r>
          </a:p>
        </p:txBody>
      </p:sp>
      <p:sp>
        <p:nvSpPr>
          <p:cNvPr id="16" name="trust-body-1">
            <a:extLst xmlns:a="http://schemas.openxmlformats.org/drawingml/2006/main">
              <a:ext uri="{FF2B5EF4-FFF2-40B4-BE49-F238E27FC236}">
                <a16:creationId xmlns:a16="http://schemas.microsoft.com/office/drawing/2014/main" id="{8EA48638-90AB-4B72-B94F-4B46FF195F19}"/>
              </a:ext>
            </a:extLst>
          </p:cNvPr>
          <p:cNvSpPr>
            <a:spLocks xmlns:a="http://schemas.openxmlformats.org/drawingml/2006/main" noGrp="1"/>
          </p:cNvSpPr>
          <p:nvPr/>
        </p:nvSpPr>
        <p:spPr>
          <a:xfrm xmlns:a="http://schemas.openxmlformats.org/drawingml/2006/main">
            <a:off x="3562350" y="4171950"/>
            <a:ext cx="196215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Aptos"/>
                <a:ea typeface="Aptos"/>
                <a:cs typeface="Aptos"/>
              </a:defRPr>
            </a:pPr>
            <a:r>
              <a:rPr sz="1350" b="0">
                <a:solidFill>
                  <a:srgbClr val="FFFFFF"/>
                </a:solidFill>
                <a:latin typeface="Aptos"/>
                <a:ea typeface="Aptos"/>
                <a:cs typeface="Aptos"/>
              </a:rPr>
              <a:t>Featherless can order approved action IDs; it cannot author new emergency actions.</a:t>
            </a:r>
          </a:p>
        </p:txBody>
      </p:sp>
      <p:sp>
        <p:nvSpPr>
          <p:cNvPr id="17" name="trust-station-2">
            <a:extLst xmlns:a="http://schemas.openxmlformats.org/drawingml/2006/main">
              <a:ext uri="{FF2B5EF4-FFF2-40B4-BE49-F238E27FC236}">
                <a16:creationId xmlns:a16="http://schemas.microsoft.com/office/drawing/2014/main" id="{7935FE76-D0C1-4FFD-957B-8E1366100B09}"/>
              </a:ext>
            </a:extLst>
          </p:cNvPr>
          <p:cNvSpPr>
            <a:spLocks xmlns:a="http://schemas.openxmlformats.org/drawingml/2006/main" noGrp="1"/>
          </p:cNvSpPr>
          <p:nvPr/>
        </p:nvSpPr>
        <p:spPr>
          <a:xfrm xmlns:a="http://schemas.openxmlformats.org/drawingml/2006/main">
            <a:off x="6076950" y="2705100"/>
            <a:ext cx="2419350" cy="2571750"/>
          </a:xfrm>
          <a:prstGeom xmlns:a="http://schemas.openxmlformats.org/drawingml/2006/main" prst="roundRect">
            <a:avLst>
              <a:gd name="adj" fmla="val 8661"/>
            </a:avLst>
          </a:prstGeom>
          <a:solidFill xmlns:a="http://schemas.openxmlformats.org/drawingml/2006/main">
            <a:srgbClr val="5F9A95"/>
          </a:solidFill>
          <a:ln xmlns:a="http://schemas.openxmlformats.org/drawingml/2006/main" w="0">
            <a:solidFill>
              <a:srgbClr val="000000">
                <a:alpha val="0"/>
              </a:srgbClr>
            </a:solidFill>
            <a:prstDash val="solid"/>
          </a:ln>
        </p:spPr>
      </p:sp>
      <p:sp>
        <p:nvSpPr>
          <p:cNvPr id="18" name="trust-num-2">
            <a:extLst xmlns:a="http://schemas.openxmlformats.org/drawingml/2006/main">
              <a:ext uri="{FF2B5EF4-FFF2-40B4-BE49-F238E27FC236}">
                <a16:creationId xmlns:a16="http://schemas.microsoft.com/office/drawing/2014/main" id="{77628739-DCA7-4B94-8021-74287752F325}"/>
              </a:ext>
            </a:extLst>
          </p:cNvPr>
          <p:cNvSpPr>
            <a:spLocks xmlns:a="http://schemas.openxmlformats.org/drawingml/2006/main" noGrp="1"/>
          </p:cNvSpPr>
          <p:nvPr/>
        </p:nvSpPr>
        <p:spPr>
          <a:xfrm xmlns:a="http://schemas.openxmlformats.org/drawingml/2006/main">
            <a:off x="6305550" y="2943225"/>
            <a:ext cx="495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0B2433"/>
                </a:solidFill>
                <a:latin typeface="Aptos"/>
                <a:ea typeface="Aptos"/>
                <a:cs typeface="Aptos"/>
              </a:defRPr>
            </a:pPr>
            <a:r>
              <a:rPr sz="1350" b="1">
                <a:solidFill>
                  <a:srgbClr val="0B2433"/>
                </a:solidFill>
                <a:latin typeface="Aptos"/>
                <a:ea typeface="Aptos"/>
                <a:cs typeface="Aptos"/>
              </a:rPr>
              <a:t>03</a:t>
            </a:r>
          </a:p>
        </p:txBody>
      </p:sp>
      <p:sp>
        <p:nvSpPr>
          <p:cNvPr id="19" name="trust-heading-2">
            <a:extLst xmlns:a="http://schemas.openxmlformats.org/drawingml/2006/main">
              <a:ext uri="{FF2B5EF4-FFF2-40B4-BE49-F238E27FC236}">
                <a16:creationId xmlns:a16="http://schemas.microsoft.com/office/drawing/2014/main" id="{F80CADF8-5E5D-4B7C-BF4D-B1F619A34FD3}"/>
              </a:ext>
            </a:extLst>
          </p:cNvPr>
          <p:cNvSpPr>
            <a:spLocks xmlns:a="http://schemas.openxmlformats.org/drawingml/2006/main" noGrp="1"/>
          </p:cNvSpPr>
          <p:nvPr/>
        </p:nvSpPr>
        <p:spPr>
          <a:xfrm xmlns:a="http://schemas.openxmlformats.org/drawingml/2006/main">
            <a:off x="6305550" y="3419475"/>
            <a:ext cx="19621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1">
                <a:solidFill>
                  <a:srgbClr val="FFFFFF"/>
                </a:solidFill>
                <a:latin typeface="Georgia"/>
                <a:ea typeface="Georgia"/>
                <a:cs typeface="Georgia"/>
              </a:defRPr>
            </a:pPr>
            <a:r>
              <a:rPr sz="1875" b="1">
                <a:solidFill>
                  <a:srgbClr val="FFFFFF"/>
                </a:solidFill>
                <a:latin typeface="Georgia"/>
                <a:ea typeface="Georgia"/>
                <a:cs typeface="Georgia"/>
              </a:rPr>
              <a:t>Output is validated</a:t>
            </a:r>
          </a:p>
        </p:txBody>
      </p:sp>
      <p:sp>
        <p:nvSpPr>
          <p:cNvPr id="20" name="trust-body-2">
            <a:extLst xmlns:a="http://schemas.openxmlformats.org/drawingml/2006/main">
              <a:ext uri="{FF2B5EF4-FFF2-40B4-BE49-F238E27FC236}">
                <a16:creationId xmlns:a16="http://schemas.microsoft.com/office/drawing/2014/main" id="{3C8EB212-95DD-4CD1-8FE1-66EE95563410}"/>
              </a:ext>
            </a:extLst>
          </p:cNvPr>
          <p:cNvSpPr>
            <a:spLocks xmlns:a="http://schemas.openxmlformats.org/drawingml/2006/main" noGrp="1"/>
          </p:cNvSpPr>
          <p:nvPr/>
        </p:nvSpPr>
        <p:spPr>
          <a:xfrm xmlns:a="http://schemas.openxmlformats.org/drawingml/2006/main">
            <a:off x="6305550" y="4171950"/>
            <a:ext cx="196215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FFFFFF"/>
                </a:solidFill>
                <a:latin typeface="Aptos"/>
                <a:ea typeface="Aptos"/>
                <a:cs typeface="Aptos"/>
              </a:defRPr>
            </a:pPr>
            <a:r>
              <a:rPr sz="1350" b="0">
                <a:solidFill>
                  <a:srgbClr val="FFFFFF"/>
                </a:solidFill>
                <a:latin typeface="Aptos"/>
                <a:ea typeface="Aptos"/>
                <a:cs typeface="Aptos"/>
              </a:rPr>
              <a:t>Schema rules and a source allowlist reject malformed or unknown selections.</a:t>
            </a:r>
          </a:p>
        </p:txBody>
      </p:sp>
      <p:sp>
        <p:nvSpPr>
          <p:cNvPr id="21" name="trust-station-3">
            <a:extLst xmlns:a="http://schemas.openxmlformats.org/drawingml/2006/main">
              <a:ext uri="{FF2B5EF4-FFF2-40B4-BE49-F238E27FC236}">
                <a16:creationId xmlns:a16="http://schemas.microsoft.com/office/drawing/2014/main" id="{50240A91-27EC-48A8-A151-F9D28658D43B}"/>
              </a:ext>
            </a:extLst>
          </p:cNvPr>
          <p:cNvSpPr>
            <a:spLocks xmlns:a="http://schemas.openxmlformats.org/drawingml/2006/main" noGrp="1"/>
          </p:cNvSpPr>
          <p:nvPr/>
        </p:nvSpPr>
        <p:spPr>
          <a:xfrm xmlns:a="http://schemas.openxmlformats.org/drawingml/2006/main">
            <a:off x="8820150" y="2705100"/>
            <a:ext cx="2419350" cy="2571750"/>
          </a:xfrm>
          <a:prstGeom xmlns:a="http://schemas.openxmlformats.org/drawingml/2006/main" prst="roundRect">
            <a:avLst>
              <a:gd name="adj" fmla="val 8661"/>
            </a:avLst>
          </a:prstGeom>
          <a:solidFill xmlns:a="http://schemas.openxmlformats.org/drawingml/2006/main">
            <a:srgbClr val="F5EBDD"/>
          </a:solidFill>
          <a:ln xmlns:a="http://schemas.openxmlformats.org/drawingml/2006/main" w="0">
            <a:solidFill>
              <a:srgbClr val="000000">
                <a:alpha val="0"/>
              </a:srgbClr>
            </a:solidFill>
            <a:prstDash val="solid"/>
          </a:ln>
        </p:spPr>
      </p:sp>
      <p:sp>
        <p:nvSpPr>
          <p:cNvPr id="22" name="trust-num-3">
            <a:extLst xmlns:a="http://schemas.openxmlformats.org/drawingml/2006/main">
              <a:ext uri="{FF2B5EF4-FFF2-40B4-BE49-F238E27FC236}">
                <a16:creationId xmlns:a16="http://schemas.microsoft.com/office/drawing/2014/main" id="{7FE371B2-538D-444B-8C19-A05DA1697F30}"/>
              </a:ext>
            </a:extLst>
          </p:cNvPr>
          <p:cNvSpPr>
            <a:spLocks xmlns:a="http://schemas.openxmlformats.org/drawingml/2006/main" noGrp="1"/>
          </p:cNvSpPr>
          <p:nvPr/>
        </p:nvSpPr>
        <p:spPr>
          <a:xfrm xmlns:a="http://schemas.openxmlformats.org/drawingml/2006/main">
            <a:off x="9048750" y="2943225"/>
            <a:ext cx="495300" cy="285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1">
                <a:solidFill>
                  <a:srgbClr val="F26A5A"/>
                </a:solidFill>
                <a:latin typeface="Aptos"/>
                <a:ea typeface="Aptos"/>
                <a:cs typeface="Aptos"/>
              </a:defRPr>
            </a:pPr>
            <a:r>
              <a:rPr sz="1350" b="1">
                <a:solidFill>
                  <a:srgbClr val="F26A5A"/>
                </a:solidFill>
                <a:latin typeface="Aptos"/>
                <a:ea typeface="Aptos"/>
                <a:cs typeface="Aptos"/>
              </a:rPr>
              <a:t>04</a:t>
            </a:r>
          </a:p>
        </p:txBody>
      </p:sp>
      <p:sp>
        <p:nvSpPr>
          <p:cNvPr id="23" name="trust-heading-3">
            <a:extLst xmlns:a="http://schemas.openxmlformats.org/drawingml/2006/main">
              <a:ext uri="{FF2B5EF4-FFF2-40B4-BE49-F238E27FC236}">
                <a16:creationId xmlns:a16="http://schemas.microsoft.com/office/drawing/2014/main" id="{3942D502-E038-476E-802A-DAF87DD19129}"/>
              </a:ext>
            </a:extLst>
          </p:cNvPr>
          <p:cNvSpPr>
            <a:spLocks xmlns:a="http://schemas.openxmlformats.org/drawingml/2006/main" noGrp="1"/>
          </p:cNvSpPr>
          <p:nvPr/>
        </p:nvSpPr>
        <p:spPr>
          <a:xfrm xmlns:a="http://schemas.openxmlformats.org/drawingml/2006/main">
            <a:off x="9048750" y="3419475"/>
            <a:ext cx="19621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875" b="1">
                <a:solidFill>
                  <a:srgbClr val="0B2433"/>
                </a:solidFill>
                <a:latin typeface="Georgia"/>
                <a:ea typeface="Georgia"/>
                <a:cs typeface="Georgia"/>
              </a:defRPr>
            </a:pPr>
            <a:r>
              <a:rPr sz="1875" b="1">
                <a:solidFill>
                  <a:srgbClr val="0B2433"/>
                </a:solidFill>
                <a:latin typeface="Georgia"/>
                <a:ea typeface="Georgia"/>
                <a:cs typeface="Georgia"/>
              </a:rPr>
              <a:t>Failure is labeled</a:t>
            </a:r>
          </a:p>
        </p:txBody>
      </p:sp>
      <p:sp>
        <p:nvSpPr>
          <p:cNvPr id="24" name="trust-body-3">
            <a:extLst xmlns:a="http://schemas.openxmlformats.org/drawingml/2006/main">
              <a:ext uri="{FF2B5EF4-FFF2-40B4-BE49-F238E27FC236}">
                <a16:creationId xmlns:a16="http://schemas.microsoft.com/office/drawing/2014/main" id="{EA14D8C0-ED5C-43C3-ACA9-D93EE292500A}"/>
              </a:ext>
            </a:extLst>
          </p:cNvPr>
          <p:cNvSpPr>
            <a:spLocks xmlns:a="http://schemas.openxmlformats.org/drawingml/2006/main" noGrp="1"/>
          </p:cNvSpPr>
          <p:nvPr/>
        </p:nvSpPr>
        <p:spPr>
          <a:xfrm xmlns:a="http://schemas.openxmlformats.org/drawingml/2006/main">
            <a:off x="9048750" y="4171950"/>
            <a:ext cx="1962150" cy="8572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350" b="0">
                <a:solidFill>
                  <a:srgbClr val="143849"/>
                </a:solidFill>
                <a:latin typeface="Aptos"/>
                <a:ea typeface="Aptos"/>
                <a:cs typeface="Aptos"/>
              </a:defRPr>
            </a:pPr>
            <a:r>
              <a:rPr sz="1350" b="0">
                <a:solidFill>
                  <a:srgbClr val="143849"/>
                </a:solidFill>
                <a:latin typeface="Aptos"/>
                <a:ea typeface="Aptos"/>
                <a:cs typeface="Aptos"/>
              </a:rPr>
              <a:t>Any provider or validation failure returns the deterministic guided fallback.</a:t>
            </a:r>
          </a:p>
        </p:txBody>
      </p:sp>
      <p:sp>
        <p:nvSpPr>
          <p:cNvPr id="25" name="trust-privacy">
            <a:extLst xmlns:a="http://schemas.openxmlformats.org/drawingml/2006/main">
              <a:ext uri="{FF2B5EF4-FFF2-40B4-BE49-F238E27FC236}">
                <a16:creationId xmlns:a16="http://schemas.microsoft.com/office/drawing/2014/main" id="{B3E882D0-30AC-4EAB-9777-4C1DCA24775C}"/>
              </a:ext>
            </a:extLst>
          </p:cNvPr>
          <p:cNvSpPr>
            <a:spLocks xmlns:a="http://schemas.openxmlformats.org/drawingml/2006/main" noGrp="1"/>
          </p:cNvSpPr>
          <p:nvPr/>
        </p:nvSpPr>
        <p:spPr>
          <a:xfrm xmlns:a="http://schemas.openxmlformats.org/drawingml/2006/main">
            <a:off x="590550" y="5772150"/>
            <a:ext cx="9525000" cy="3238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00" b="1">
                <a:solidFill>
                  <a:srgbClr val="BCD4D6"/>
                </a:solidFill>
                <a:latin typeface="Aptos"/>
                <a:ea typeface="Aptos"/>
                <a:cs typeface="Aptos"/>
              </a:defRPr>
            </a:pPr>
            <a:r>
              <a:rPr sz="1500" b="1">
                <a:solidFill>
                  <a:srgbClr val="BCD4D6"/>
                </a:solidFill>
                <a:latin typeface="Aptos"/>
                <a:ea typeface="Aptos"/>
                <a:cs typeface="Aptos"/>
              </a:rPr>
              <a:t>No account  ·  no database  ·  no server-side plan storage</a:t>
            </a:r>
          </a:p>
        </p:txBody>
      </p:sp>
    </p:spTree>
    <p:extLst>
      <p:ext uri="{BB962C8B-B14F-4D97-AF65-F5344CB8AC3E}">
        <p14:creationId xmlns:p14="http://schemas.microsoft.com/office/powerpoint/2010/main" val="898302033"/>
      </p:ext>
    </p:extLst>
  </p:cSld>
</p:sld>
</file>

<file path=ppt/slides/slide5.xml><?xml version="1.0" encoding="utf-8"?>
<p:sld xmlns:p="http://schemas.openxmlformats.org/presentationml/2006/main">
  <p:cSld>
    <p:bg>
      <p:bgPr>
        <a:solidFill xmlns:a="http://schemas.openxmlformats.org/drawingml/2006/main">
          <a:srgbClr val="F5EBDD"/>
        </a:solidFill>
      </p:bgPr>
    </p:bg>
    <p:spTree>
      <p:nvGrpSpPr>
        <p:cNvPr id="1" name=""/>
        <p:cNvGrpSpPr/>
        <p:nvPr/>
      </p:nvGrpSpPr>
      <p:grpSpPr>
        <a:xfrm xmlns:a="http://schemas.openxmlformats.org/drawingml/2006/main"/>
      </p:grpSpPr>
      <p:sp>
        <p:nvSpPr>
          <p:cNvPr id="20" name="brand-5">
            <a:extLst xmlns:a="http://schemas.openxmlformats.org/drawingml/2006/main">
              <a:ext uri="{FF2B5EF4-FFF2-40B4-BE49-F238E27FC236}">
                <a16:creationId xmlns:a16="http://schemas.microsoft.com/office/drawing/2014/main" id="{25E6D27F-AF41-4519-972B-A0DC2B24BEAE}"/>
              </a:ext>
            </a:extLst>
          </p:cNvPr>
          <p:cNvSpPr>
            <a:spLocks xmlns:a="http://schemas.openxmlformats.org/drawingml/2006/main" noGrp="1"/>
          </p:cNvSpPr>
          <p:nvPr/>
        </p:nvSpPr>
        <p:spPr>
          <a:xfrm xmlns:a="http://schemas.openxmlformats.org/drawingml/2006/main">
            <a:off x="590550" y="400050"/>
            <a:ext cx="20955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0B2433"/>
                </a:solidFill>
                <a:latin typeface="Aptos"/>
                <a:ea typeface="Aptos"/>
                <a:cs typeface="Aptos"/>
              </a:defRPr>
            </a:pPr>
            <a:r>
              <a:rPr sz="1200" b="1">
                <a:solidFill>
                  <a:srgbClr val="0B2433"/>
                </a:solidFill>
                <a:latin typeface="Aptos"/>
                <a:ea typeface="Aptos"/>
                <a:cs typeface="Aptos"/>
              </a:rPr>
              <a:t>CREEKREADY</a:t>
            </a:r>
          </a:p>
        </p:txBody>
      </p:sp>
      <p:sp>
        <p:nvSpPr>
          <p:cNvPr id="2" name="brand-rule-5">
            <a:extLst xmlns:a="http://schemas.openxmlformats.org/drawingml/2006/main">
              <a:ext uri="{FF2B5EF4-FFF2-40B4-BE49-F238E27FC236}">
                <a16:creationId xmlns:a16="http://schemas.microsoft.com/office/drawing/2014/main" id="{5315F6D5-08EC-45FC-82B3-C7E4CBB4E22D}"/>
              </a:ext>
            </a:extLst>
          </p:cNvPr>
          <p:cNvSpPr>
            <a:spLocks xmlns:a="http://schemas.openxmlformats.org/drawingml/2006/main" noGrp="1"/>
          </p:cNvSpPr>
          <p:nvPr/>
        </p:nvSpPr>
        <p:spPr>
          <a:xfrm xmlns:a="http://schemas.openxmlformats.org/drawingml/2006/main">
            <a:off x="590550" y="704850"/>
            <a:ext cx="685800" cy="47625"/>
          </a:xfrm>
          <a:prstGeom xmlns:a="http://schemas.openxmlformats.org/drawingml/2006/main" prst="rect">
            <a:avLst/>
          </a:prstGeom>
          <a:solidFill xmlns:a="http://schemas.openxmlformats.org/drawingml/2006/main">
            <a:srgbClr val="F26A5A"/>
          </a:solidFill>
          <a:ln xmlns:a="http://schemas.openxmlformats.org/drawingml/2006/main" w="0">
            <a:solidFill>
              <a:srgbClr val="000000">
                <a:alpha val="0"/>
              </a:srgbClr>
            </a:solidFill>
            <a:prstDash val="solid"/>
          </a:ln>
        </p:spPr>
      </p:sp>
      <p:sp>
        <p:nvSpPr>
          <p:cNvPr id="3" name="page-5">
            <a:extLst xmlns:a="http://schemas.openxmlformats.org/drawingml/2006/main">
              <a:ext uri="{FF2B5EF4-FFF2-40B4-BE49-F238E27FC236}">
                <a16:creationId xmlns:a16="http://schemas.microsoft.com/office/drawing/2014/main" id="{DB300CEB-97F4-4F15-8182-19538A16E66A}"/>
              </a:ext>
            </a:extLst>
          </p:cNvPr>
          <p:cNvSpPr>
            <a:spLocks xmlns:a="http://schemas.openxmlformats.org/drawingml/2006/main" noGrp="1"/>
          </p:cNvSpPr>
          <p:nvPr/>
        </p:nvSpPr>
        <p:spPr>
          <a:xfrm xmlns:a="http://schemas.openxmlformats.org/drawingml/2006/main">
            <a:off x="11049000" y="6191250"/>
            <a:ext cx="533400" cy="228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r">
              <a:buNone/>
              <a:defRPr sz="1200" b="1">
                <a:solidFill>
                  <a:srgbClr val="5F9A95"/>
                </a:solidFill>
                <a:latin typeface="Aptos"/>
                <a:ea typeface="Aptos"/>
                <a:cs typeface="Aptos"/>
              </a:defRPr>
            </a:pPr>
            <a:r>
              <a:rPr sz="1200" b="1">
                <a:solidFill>
                  <a:srgbClr val="5F9A95"/>
                </a:solidFill>
                <a:latin typeface="Aptos"/>
                <a:ea typeface="Aptos"/>
                <a:cs typeface="Aptos"/>
              </a:rPr>
              <a:t>05</a:t>
            </a:r>
          </a:p>
        </p:txBody>
      </p:sp>
      <p:sp>
        <p:nvSpPr>
          <p:cNvPr id="4" name="close-navy-field">
            <a:extLst xmlns:a="http://schemas.openxmlformats.org/drawingml/2006/main">
              <a:ext uri="{FF2B5EF4-FFF2-40B4-BE49-F238E27FC236}">
                <a16:creationId xmlns:a16="http://schemas.microsoft.com/office/drawing/2014/main" id="{B712B8BB-202E-4E0E-AD24-30B89B864FBF}"/>
              </a:ext>
            </a:extLst>
          </p:cNvPr>
          <p:cNvSpPr>
            <a:spLocks xmlns:a="http://schemas.openxmlformats.org/drawingml/2006/main" noGrp="1"/>
          </p:cNvSpPr>
          <p:nvPr/>
        </p:nvSpPr>
        <p:spPr>
          <a:xfrm xmlns:a="http://schemas.openxmlformats.org/drawingml/2006/main">
            <a:off x="590550" y="1123950"/>
            <a:ext cx="6343650" cy="4610100"/>
          </a:xfrm>
          <a:prstGeom xmlns:a="http://schemas.openxmlformats.org/drawingml/2006/main" prst="roundRect">
            <a:avLst>
              <a:gd name="adj" fmla="val 5785"/>
            </a:avLst>
          </a:prstGeom>
          <a:solidFill xmlns:a="http://schemas.openxmlformats.org/drawingml/2006/main">
            <a:srgbClr val="0B2433"/>
          </a:solidFill>
          <a:ln xmlns:a="http://schemas.openxmlformats.org/drawingml/2006/main" w="0">
            <a:solidFill>
              <a:srgbClr val="000000">
                <a:alpha val="0"/>
              </a:srgbClr>
            </a:solidFill>
            <a:prstDash val="solid"/>
          </a:ln>
        </p:spPr>
      </p:sp>
      <p:sp>
        <p:nvSpPr>
          <p:cNvPr id="5" name="close-kicker">
            <a:extLst xmlns:a="http://schemas.openxmlformats.org/drawingml/2006/main">
              <a:ext uri="{FF2B5EF4-FFF2-40B4-BE49-F238E27FC236}">
                <a16:creationId xmlns:a16="http://schemas.microsoft.com/office/drawing/2014/main" id="{09AAC7A5-2A25-4D29-ACDD-10BAA2D7F623}"/>
              </a:ext>
            </a:extLst>
          </p:cNvPr>
          <p:cNvSpPr>
            <a:spLocks xmlns:a="http://schemas.openxmlformats.org/drawingml/2006/main" noGrp="1"/>
          </p:cNvSpPr>
          <p:nvPr/>
        </p:nvSpPr>
        <p:spPr>
          <a:xfrm xmlns:a="http://schemas.openxmlformats.org/drawingml/2006/main">
            <a:off x="990600" y="1581150"/>
            <a:ext cx="2095500" cy="2667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200" b="1">
                <a:solidFill>
                  <a:srgbClr val="FFB0A4"/>
                </a:solidFill>
                <a:latin typeface="Aptos"/>
                <a:ea typeface="Aptos"/>
                <a:cs typeface="Aptos"/>
              </a:defRPr>
            </a:pPr>
            <a:r>
              <a:rPr sz="1200" b="1">
                <a:solidFill>
                  <a:srgbClr val="FFB0A4"/>
                </a:solidFill>
                <a:latin typeface="Aptos"/>
                <a:ea typeface="Aptos"/>
                <a:cs typeface="Aptos"/>
              </a:rPr>
              <a:t>THE PROMISE</a:t>
            </a:r>
          </a:p>
        </p:txBody>
      </p:sp>
      <p:sp>
        <p:nvSpPr>
          <p:cNvPr id="6" name="close-alert">
            <a:extLst xmlns:a="http://schemas.openxmlformats.org/drawingml/2006/main">
              <a:ext uri="{FF2B5EF4-FFF2-40B4-BE49-F238E27FC236}">
                <a16:creationId xmlns:a16="http://schemas.microsoft.com/office/drawing/2014/main" id="{A81061B5-00C0-440C-9471-E4CA4786423A}"/>
              </a:ext>
            </a:extLst>
          </p:cNvPr>
          <p:cNvSpPr>
            <a:spLocks xmlns:a="http://schemas.openxmlformats.org/drawingml/2006/main" noGrp="1"/>
          </p:cNvSpPr>
          <p:nvPr/>
        </p:nvSpPr>
        <p:spPr>
          <a:xfrm xmlns:a="http://schemas.openxmlformats.org/drawingml/2006/main">
            <a:off x="990600" y="2114550"/>
            <a:ext cx="5143500" cy="6096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150" b="1">
                <a:solidFill>
                  <a:srgbClr val="F5EBDD"/>
                </a:solidFill>
                <a:latin typeface="Georgia"/>
                <a:ea typeface="Georgia"/>
                <a:cs typeface="Georgia"/>
              </a:defRPr>
            </a:pPr>
            <a:r>
              <a:rPr sz="3150" b="1">
                <a:solidFill>
                  <a:srgbClr val="F5EBDD"/>
                </a:solidFill>
                <a:latin typeface="Georgia"/>
                <a:ea typeface="Georgia"/>
                <a:cs typeface="Georgia"/>
              </a:rPr>
              <a:t>Official alert in.</a:t>
            </a:r>
          </a:p>
        </p:txBody>
      </p:sp>
      <p:sp>
        <p:nvSpPr>
          <p:cNvPr id="7" name="close-arrow">
            <a:extLst xmlns:a="http://schemas.openxmlformats.org/drawingml/2006/main">
              <a:ext uri="{FF2B5EF4-FFF2-40B4-BE49-F238E27FC236}">
                <a16:creationId xmlns:a16="http://schemas.microsoft.com/office/drawing/2014/main" id="{6866A0B0-AE0B-4415-B8E5-CE4FC6B06B19}"/>
              </a:ext>
            </a:extLst>
          </p:cNvPr>
          <p:cNvSpPr>
            <a:spLocks xmlns:a="http://schemas.openxmlformats.org/drawingml/2006/main" noGrp="1"/>
          </p:cNvSpPr>
          <p:nvPr/>
        </p:nvSpPr>
        <p:spPr>
          <a:xfrm xmlns:a="http://schemas.openxmlformats.org/drawingml/2006/main">
            <a:off x="990600" y="3086100"/>
            <a:ext cx="1809750" cy="514350"/>
          </a:xfrm>
          <a:prstGeom xmlns:a="http://schemas.openxmlformats.org/drawingml/2006/main" prst="rightArrow">
            <a:avLst/>
          </a:prstGeom>
          <a:solidFill xmlns:a="http://schemas.openxmlformats.org/drawingml/2006/main">
            <a:srgbClr val="F26A5A"/>
          </a:solidFill>
          <a:ln xmlns:a="http://schemas.openxmlformats.org/drawingml/2006/main" w="0">
            <a:solidFill>
              <a:srgbClr val="000000">
                <a:alpha val="0"/>
              </a:srgbClr>
            </a:solidFill>
            <a:prstDash val="solid"/>
          </a:ln>
        </p:spPr>
      </p:sp>
      <p:sp>
        <p:nvSpPr>
          <p:cNvPr id="8" name="close-plan">
            <a:extLst xmlns:a="http://schemas.openxmlformats.org/drawingml/2006/main">
              <a:ext uri="{FF2B5EF4-FFF2-40B4-BE49-F238E27FC236}">
                <a16:creationId xmlns:a16="http://schemas.microsoft.com/office/drawing/2014/main" id="{CF41BFAE-9FFB-468E-AC3B-08B45FC2941D}"/>
              </a:ext>
            </a:extLst>
          </p:cNvPr>
          <p:cNvSpPr>
            <a:spLocks xmlns:a="http://schemas.openxmlformats.org/drawingml/2006/main" noGrp="1"/>
          </p:cNvSpPr>
          <p:nvPr/>
        </p:nvSpPr>
        <p:spPr>
          <a:xfrm xmlns:a="http://schemas.openxmlformats.org/drawingml/2006/main">
            <a:off x="990600" y="3924300"/>
            <a:ext cx="5048250" cy="12001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3900" b="1">
                <a:solidFill>
                  <a:srgbClr val="FFFFFF"/>
                </a:solidFill>
                <a:latin typeface="Georgia"/>
                <a:ea typeface="Georgia"/>
                <a:cs typeface="Georgia"/>
              </a:defRPr>
            </a:pPr>
            <a:r>
              <a:rPr sz="3900" b="1">
                <a:solidFill>
                  <a:srgbClr val="FFFFFF"/>
                </a:solidFill>
                <a:latin typeface="Georgia"/>
                <a:ea typeface="Georgia"/>
                <a:cs typeface="Georgia"/>
              </a:rPr>
              <a:t>Clear household</a:t>
            </a:r>
          </a:p>
          <a:p xmlns:a="http://schemas.openxmlformats.org/drawingml/2006/main">
            <a:pPr algn="l">
              <a:buNone/>
              <a:defRPr sz="3900" b="1">
                <a:solidFill>
                  <a:srgbClr val="FFFFFF"/>
                </a:solidFill>
                <a:latin typeface="Georgia"/>
                <a:ea typeface="Georgia"/>
                <a:cs typeface="Georgia"/>
              </a:defRPr>
            </a:pPr>
            <a:r>
              <a:rPr sz="3900" b="1">
                <a:solidFill>
                  <a:srgbClr val="FFFFFF"/>
                </a:solidFill>
                <a:latin typeface="Georgia"/>
                <a:ea typeface="Georgia"/>
                <a:cs typeface="Georgia"/>
              </a:rPr>
              <a:t>plan out.</a:t>
            </a:r>
          </a:p>
        </p:txBody>
      </p:sp>
      <p:sp>
        <p:nvSpPr>
          <p:cNvPr id="9" name="close-limit-title">
            <a:extLst xmlns:a="http://schemas.openxmlformats.org/drawingml/2006/main">
              <a:ext uri="{FF2B5EF4-FFF2-40B4-BE49-F238E27FC236}">
                <a16:creationId xmlns:a16="http://schemas.microsoft.com/office/drawing/2014/main" id="{E4D416F0-5AA4-40F2-AEB8-1F8A50101FA6}"/>
              </a:ext>
            </a:extLst>
          </p:cNvPr>
          <p:cNvSpPr>
            <a:spLocks xmlns:a="http://schemas.openxmlformats.org/drawingml/2006/main" noGrp="1"/>
          </p:cNvSpPr>
          <p:nvPr/>
        </p:nvSpPr>
        <p:spPr>
          <a:xfrm xmlns:a="http://schemas.openxmlformats.org/drawingml/2006/main">
            <a:off x="7429500" y="1276350"/>
            <a:ext cx="4000500" cy="6667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2400" b="1">
                <a:solidFill>
                  <a:srgbClr val="0B2433"/>
                </a:solidFill>
                <a:latin typeface="Georgia"/>
                <a:ea typeface="Georgia"/>
                <a:cs typeface="Georgia"/>
              </a:defRPr>
            </a:pPr>
            <a:r>
              <a:rPr sz="2400" b="1">
                <a:solidFill>
                  <a:srgbClr val="0B2433"/>
                </a:solidFill>
                <a:latin typeface="Georgia"/>
                <a:ea typeface="Georgia"/>
                <a:cs typeface="Georgia"/>
              </a:rPr>
              <a:t>What this prototype does not do</a:t>
            </a:r>
          </a:p>
        </p:txBody>
      </p:sp>
      <p:sp>
        <p:nvSpPr>
          <p:cNvPr id="10" name="limit-mark-0">
            <a:extLst xmlns:a="http://schemas.openxmlformats.org/drawingml/2006/main">
              <a:ext uri="{FF2B5EF4-FFF2-40B4-BE49-F238E27FC236}">
                <a16:creationId xmlns:a16="http://schemas.microsoft.com/office/drawing/2014/main" id="{BB08F1E0-52FE-4D42-A16A-E9C625D78120}"/>
              </a:ext>
            </a:extLst>
          </p:cNvPr>
          <p:cNvSpPr>
            <a:spLocks xmlns:a="http://schemas.openxmlformats.org/drawingml/2006/main" noGrp="1"/>
          </p:cNvSpPr>
          <p:nvPr/>
        </p:nvSpPr>
        <p:spPr>
          <a:xfrm xmlns:a="http://schemas.openxmlformats.org/drawingml/2006/main">
            <a:off x="7429500" y="2362200"/>
            <a:ext cx="171450" cy="171450"/>
          </a:xfrm>
          <a:prstGeom xmlns:a="http://schemas.openxmlformats.org/drawingml/2006/main" prst="ellipse">
            <a:avLst/>
          </a:prstGeom>
          <a:solidFill xmlns:a="http://schemas.openxmlformats.org/drawingml/2006/main">
            <a:srgbClr val="F26A5A"/>
          </a:solidFill>
          <a:ln xmlns:a="http://schemas.openxmlformats.org/drawingml/2006/main" w="0">
            <a:solidFill>
              <a:srgbClr val="000000">
                <a:alpha val="0"/>
              </a:srgbClr>
            </a:solidFill>
            <a:prstDash val="solid"/>
          </a:ln>
        </p:spPr>
      </p:sp>
      <p:sp>
        <p:nvSpPr>
          <p:cNvPr id="11" name="limit-0">
            <a:extLst xmlns:a="http://schemas.openxmlformats.org/drawingml/2006/main">
              <a:ext uri="{FF2B5EF4-FFF2-40B4-BE49-F238E27FC236}">
                <a16:creationId xmlns:a16="http://schemas.microsoft.com/office/drawing/2014/main" id="{0C66603E-24FF-4D3D-AE0F-E4BD9C0BDC90}"/>
              </a:ext>
            </a:extLst>
          </p:cNvPr>
          <p:cNvSpPr>
            <a:spLocks xmlns:a="http://schemas.openxmlformats.org/drawingml/2006/main" noGrp="1"/>
          </p:cNvSpPr>
          <p:nvPr/>
        </p:nvSpPr>
        <p:spPr>
          <a:xfrm xmlns:a="http://schemas.openxmlformats.org/drawingml/2006/main">
            <a:off x="7791450" y="2314575"/>
            <a:ext cx="36385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143849"/>
                </a:solidFill>
                <a:latin typeface="Aptos"/>
                <a:ea typeface="Aptos"/>
                <a:cs typeface="Aptos"/>
              </a:defRPr>
            </a:pPr>
            <a:r>
              <a:rPr sz="1575" b="0">
                <a:solidFill>
                  <a:srgbClr val="143849"/>
                </a:solidFill>
                <a:latin typeface="Aptos"/>
                <a:ea typeface="Aptos"/>
                <a:cs typeface="Aptos"/>
              </a:rPr>
              <a:t>It does not authenticate or monitor alerts.</a:t>
            </a:r>
          </a:p>
        </p:txBody>
      </p:sp>
      <p:sp>
        <p:nvSpPr>
          <p:cNvPr id="12" name="limit-mark-1">
            <a:extLst xmlns:a="http://schemas.openxmlformats.org/drawingml/2006/main">
              <a:ext uri="{FF2B5EF4-FFF2-40B4-BE49-F238E27FC236}">
                <a16:creationId xmlns:a16="http://schemas.microsoft.com/office/drawing/2014/main" id="{E430F468-7CCE-451A-85C2-7F3B64920690}"/>
              </a:ext>
            </a:extLst>
          </p:cNvPr>
          <p:cNvSpPr>
            <a:spLocks xmlns:a="http://schemas.openxmlformats.org/drawingml/2006/main" noGrp="1"/>
          </p:cNvSpPr>
          <p:nvPr/>
        </p:nvSpPr>
        <p:spPr>
          <a:xfrm xmlns:a="http://schemas.openxmlformats.org/drawingml/2006/main">
            <a:off x="7429500" y="3095625"/>
            <a:ext cx="171450" cy="171450"/>
          </a:xfrm>
          <a:prstGeom xmlns:a="http://schemas.openxmlformats.org/drawingml/2006/main" prst="ellipse">
            <a:avLst/>
          </a:prstGeom>
          <a:solidFill xmlns:a="http://schemas.openxmlformats.org/drawingml/2006/main">
            <a:srgbClr val="F26A5A"/>
          </a:solidFill>
          <a:ln xmlns:a="http://schemas.openxmlformats.org/drawingml/2006/main" w="0">
            <a:solidFill>
              <a:srgbClr val="000000">
                <a:alpha val="0"/>
              </a:srgbClr>
            </a:solidFill>
            <a:prstDash val="solid"/>
          </a:ln>
        </p:spPr>
      </p:sp>
      <p:sp>
        <p:nvSpPr>
          <p:cNvPr id="13" name="limit-1">
            <a:extLst xmlns:a="http://schemas.openxmlformats.org/drawingml/2006/main">
              <a:ext uri="{FF2B5EF4-FFF2-40B4-BE49-F238E27FC236}">
                <a16:creationId xmlns:a16="http://schemas.microsoft.com/office/drawing/2014/main" id="{A769A5B4-78C3-4946-A534-E74826923C35}"/>
              </a:ext>
            </a:extLst>
          </p:cNvPr>
          <p:cNvSpPr>
            <a:spLocks xmlns:a="http://schemas.openxmlformats.org/drawingml/2006/main" noGrp="1"/>
          </p:cNvSpPr>
          <p:nvPr/>
        </p:nvSpPr>
        <p:spPr>
          <a:xfrm xmlns:a="http://schemas.openxmlformats.org/drawingml/2006/main">
            <a:off x="7791450" y="3048000"/>
            <a:ext cx="36385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143849"/>
                </a:solidFill>
                <a:latin typeface="Aptos"/>
                <a:ea typeface="Aptos"/>
                <a:cs typeface="Aptos"/>
              </a:defRPr>
            </a:pPr>
            <a:r>
              <a:rPr sz="1575" b="0">
                <a:solidFill>
                  <a:srgbClr val="143849"/>
                </a:solidFill>
                <a:latin typeface="Aptos"/>
                <a:ea typeface="Aptos"/>
                <a:cs typeface="Aptos"/>
              </a:rPr>
              <a:t>It has no live weather, road, location, or emergency-services feed.</a:t>
            </a:r>
          </a:p>
        </p:txBody>
      </p:sp>
      <p:sp>
        <p:nvSpPr>
          <p:cNvPr id="14" name="limit-mark-2">
            <a:extLst xmlns:a="http://schemas.openxmlformats.org/drawingml/2006/main">
              <a:ext uri="{FF2B5EF4-FFF2-40B4-BE49-F238E27FC236}">
                <a16:creationId xmlns:a16="http://schemas.microsoft.com/office/drawing/2014/main" id="{661EFEE9-D96E-4FDE-9256-CE2BBEA5B94D}"/>
              </a:ext>
            </a:extLst>
          </p:cNvPr>
          <p:cNvSpPr>
            <a:spLocks xmlns:a="http://schemas.openxmlformats.org/drawingml/2006/main" noGrp="1"/>
          </p:cNvSpPr>
          <p:nvPr/>
        </p:nvSpPr>
        <p:spPr>
          <a:xfrm xmlns:a="http://schemas.openxmlformats.org/drawingml/2006/main">
            <a:off x="7429500" y="3829050"/>
            <a:ext cx="171450" cy="171450"/>
          </a:xfrm>
          <a:prstGeom xmlns:a="http://schemas.openxmlformats.org/drawingml/2006/main" prst="ellipse">
            <a:avLst/>
          </a:prstGeom>
          <a:solidFill xmlns:a="http://schemas.openxmlformats.org/drawingml/2006/main">
            <a:srgbClr val="5F9A95"/>
          </a:solidFill>
          <a:ln xmlns:a="http://schemas.openxmlformats.org/drawingml/2006/main" w="0">
            <a:solidFill>
              <a:srgbClr val="000000">
                <a:alpha val="0"/>
              </a:srgbClr>
            </a:solidFill>
            <a:prstDash val="solid"/>
          </a:ln>
        </p:spPr>
      </p:sp>
      <p:sp>
        <p:nvSpPr>
          <p:cNvPr id="15" name="limit-2">
            <a:extLst xmlns:a="http://schemas.openxmlformats.org/drawingml/2006/main">
              <a:ext uri="{FF2B5EF4-FFF2-40B4-BE49-F238E27FC236}">
                <a16:creationId xmlns:a16="http://schemas.microsoft.com/office/drawing/2014/main" id="{412A007B-7D45-4819-B7FA-5FD40286D484}"/>
              </a:ext>
            </a:extLst>
          </p:cNvPr>
          <p:cNvSpPr>
            <a:spLocks xmlns:a="http://schemas.openxmlformats.org/drawingml/2006/main" noGrp="1"/>
          </p:cNvSpPr>
          <p:nvPr/>
        </p:nvSpPr>
        <p:spPr>
          <a:xfrm xmlns:a="http://schemas.openxmlformats.org/drawingml/2006/main">
            <a:off x="7791450" y="3781425"/>
            <a:ext cx="36385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1">
                <a:solidFill>
                  <a:srgbClr val="143849"/>
                </a:solidFill>
                <a:latin typeface="Aptos"/>
                <a:ea typeface="Aptos"/>
                <a:cs typeface="Aptos"/>
              </a:defRPr>
            </a:pPr>
            <a:r>
              <a:rPr sz="1575" b="1">
                <a:solidFill>
                  <a:srgbClr val="143849"/>
                </a:solidFill>
                <a:latin typeface="Aptos"/>
                <a:ea typeface="Aptos"/>
                <a:cs typeface="Aptos"/>
              </a:rPr>
              <a:t>It does not replace the original alert or officials.</a:t>
            </a:r>
          </a:p>
        </p:txBody>
      </p:sp>
      <p:sp>
        <p:nvSpPr>
          <p:cNvPr id="16" name="limit-mark-3">
            <a:extLst xmlns:a="http://schemas.openxmlformats.org/drawingml/2006/main">
              <a:ext uri="{FF2B5EF4-FFF2-40B4-BE49-F238E27FC236}">
                <a16:creationId xmlns:a16="http://schemas.microsoft.com/office/drawing/2014/main" id="{FA1EFA20-5B0A-4E28-B88F-4BB33BC9B736}"/>
              </a:ext>
            </a:extLst>
          </p:cNvPr>
          <p:cNvSpPr>
            <a:spLocks xmlns:a="http://schemas.openxmlformats.org/drawingml/2006/main" noGrp="1"/>
          </p:cNvSpPr>
          <p:nvPr/>
        </p:nvSpPr>
        <p:spPr>
          <a:xfrm xmlns:a="http://schemas.openxmlformats.org/drawingml/2006/main">
            <a:off x="7429500" y="4562475"/>
            <a:ext cx="171450" cy="171450"/>
          </a:xfrm>
          <a:prstGeom xmlns:a="http://schemas.openxmlformats.org/drawingml/2006/main" prst="ellipse">
            <a:avLst/>
          </a:prstGeom>
          <a:solidFill xmlns:a="http://schemas.openxmlformats.org/drawingml/2006/main">
            <a:srgbClr val="5F9A95"/>
          </a:solidFill>
          <a:ln xmlns:a="http://schemas.openxmlformats.org/drawingml/2006/main" w="0">
            <a:solidFill>
              <a:srgbClr val="000000">
                <a:alpha val="0"/>
              </a:srgbClr>
            </a:solidFill>
            <a:prstDash val="solid"/>
          </a:ln>
        </p:spPr>
      </p:sp>
      <p:sp>
        <p:nvSpPr>
          <p:cNvPr id="17" name="limit-3">
            <a:extLst xmlns:a="http://schemas.openxmlformats.org/drawingml/2006/main">
              <a:ext uri="{FF2B5EF4-FFF2-40B4-BE49-F238E27FC236}">
                <a16:creationId xmlns:a16="http://schemas.microsoft.com/office/drawing/2014/main" id="{61BC56FC-451C-4163-BD65-665F76DF189A}"/>
              </a:ext>
            </a:extLst>
          </p:cNvPr>
          <p:cNvSpPr>
            <a:spLocks xmlns:a="http://schemas.openxmlformats.org/drawingml/2006/main" noGrp="1"/>
          </p:cNvSpPr>
          <p:nvPr/>
        </p:nvSpPr>
        <p:spPr>
          <a:xfrm xmlns:a="http://schemas.openxmlformats.org/drawingml/2006/main">
            <a:off x="7791450" y="4514850"/>
            <a:ext cx="3638550" cy="55245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575" b="0">
                <a:solidFill>
                  <a:srgbClr val="143849"/>
                </a:solidFill>
                <a:latin typeface="Aptos"/>
                <a:ea typeface="Aptos"/>
                <a:cs typeface="Aptos"/>
              </a:defRPr>
            </a:pPr>
            <a:r>
              <a:rPr sz="1575" b="0">
                <a:solidFill>
                  <a:srgbClr val="143849"/>
                </a:solidFill>
                <a:latin typeface="Aptos"/>
                <a:ea typeface="Aptos"/>
                <a:cs typeface="Aptos"/>
              </a:rPr>
              <a:t>It has no field-validated accuracy metric yet.</a:t>
            </a:r>
          </a:p>
        </p:txBody>
      </p:sp>
      <p:sp>
        <p:nvSpPr>
          <p:cNvPr id="18" name="close-rule">
            <a:extLst xmlns:a="http://schemas.openxmlformats.org/drawingml/2006/main">
              <a:ext uri="{FF2B5EF4-FFF2-40B4-BE49-F238E27FC236}">
                <a16:creationId xmlns:a16="http://schemas.microsoft.com/office/drawing/2014/main" id="{BD41F67F-2884-4BB4-88F7-CD444DE34102}"/>
              </a:ext>
            </a:extLst>
          </p:cNvPr>
          <p:cNvSpPr>
            <a:spLocks xmlns:a="http://schemas.openxmlformats.org/drawingml/2006/main" noGrp="1"/>
          </p:cNvSpPr>
          <p:nvPr/>
        </p:nvSpPr>
        <p:spPr>
          <a:xfrm xmlns:a="http://schemas.openxmlformats.org/drawingml/2006/main">
            <a:off x="7429500" y="5381625"/>
            <a:ext cx="4000500" cy="38100"/>
          </a:xfrm>
          <a:prstGeom xmlns:a="http://schemas.openxmlformats.org/drawingml/2006/main" prst="rect">
            <a:avLst/>
          </a:prstGeom>
          <a:solidFill xmlns:a="http://schemas.openxmlformats.org/drawingml/2006/main">
            <a:srgbClr val="F26A5A"/>
          </a:solidFill>
          <a:ln xmlns:a="http://schemas.openxmlformats.org/drawingml/2006/main" w="0">
            <a:solidFill>
              <a:srgbClr val="000000">
                <a:alpha val="0"/>
              </a:srgbClr>
            </a:solidFill>
            <a:prstDash val="solid"/>
          </a:ln>
        </p:spPr>
      </p:sp>
      <p:sp>
        <p:nvSpPr>
          <p:cNvPr id="19" name="close-authority">
            <a:extLst xmlns:a="http://schemas.openxmlformats.org/drawingml/2006/main">
              <a:ext uri="{FF2B5EF4-FFF2-40B4-BE49-F238E27FC236}">
                <a16:creationId xmlns:a16="http://schemas.microsoft.com/office/drawing/2014/main" id="{F7C02C7F-0747-4D17-95CC-345E520AADD3}"/>
              </a:ext>
            </a:extLst>
          </p:cNvPr>
          <p:cNvSpPr>
            <a:spLocks xmlns:a="http://schemas.openxmlformats.org/drawingml/2006/main" noGrp="1"/>
          </p:cNvSpPr>
          <p:nvPr/>
        </p:nvSpPr>
        <p:spPr>
          <a:xfrm xmlns:a="http://schemas.openxmlformats.org/drawingml/2006/main">
            <a:off x="7429500" y="5581650"/>
            <a:ext cx="4000500" cy="342900"/>
          </a:xfrm>
          <a:prstGeom xmlns:a="http://schemas.openxmlformats.org/drawingml/2006/main" prst="rect">
            <a:avLst/>
          </a:prstGeom>
          <a:solidFill xmlns:a="http://schemas.openxmlformats.org/drawingml/2006/main">
            <a:srgbClr val="000000">
              <a:alpha val="0"/>
            </a:srgbClr>
          </a:solidFill>
          <a:ln xmlns:a="http://schemas.openxmlformats.org/drawingml/2006/main" w="0">
            <a:solidFill>
              <a:srgbClr val="000000">
                <a:alpha val="0"/>
              </a:srgbClr>
            </a:solidFill>
            <a:prstDash val="solid"/>
          </a:ln>
        </p:spPr>
        <p:txBody>
          <a:bodyPr xmlns:a="http://schemas.openxmlformats.org/drawingml/2006/main" lIns="0" tIns="0" rIns="0" bIns="0" anchor="t"/>
          <a:lstStyle xmlns:a="http://schemas.openxmlformats.org/drawingml/2006/main"/>
          <a:p xmlns:a="http://schemas.openxmlformats.org/drawingml/2006/main">
            <a:pPr algn="l">
              <a:buNone/>
              <a:defRPr sz="1725" b="1">
                <a:solidFill>
                  <a:srgbClr val="0B2433"/>
                </a:solidFill>
                <a:latin typeface="Aptos"/>
                <a:ea typeface="Aptos"/>
                <a:cs typeface="Aptos"/>
              </a:defRPr>
            </a:pPr>
            <a:r>
              <a:rPr sz="1725" b="1">
                <a:solidFill>
                  <a:srgbClr val="0B2433"/>
                </a:solidFill>
                <a:latin typeface="Aptos"/>
                <a:ea typeface="Aptos"/>
                <a:cs typeface="Aptos"/>
              </a:rPr>
              <a:t>The official signal stays in control.</a:t>
            </a:r>
          </a:p>
        </p:txBody>
      </p:sp>
    </p:spTree>
    <p:extLst>
      <p:ext uri="{BB962C8B-B14F-4D97-AF65-F5344CB8AC3E}">
        <p14:creationId xmlns:p14="http://schemas.microsoft.com/office/powerpoint/2010/main" val="113528935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2026-08-08T20:12:32.4720000Z</dcterms:created>
  <dcterms:modified xsi:type="dcterms:W3CDTF">2026-08-08T20:12:32.4720000Z</dcterms:modified>
</coreProperties>
</file>